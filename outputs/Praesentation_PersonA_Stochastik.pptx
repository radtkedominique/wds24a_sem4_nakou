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39"/>
  </p:normalViewPr>
  <p:slideViewPr>
    <p:cSldViewPr snapToGrid="0" snapToObjects="1">
      <p:cViewPr varScale="1">
        <p:scale>
          <a:sx n="136" d="100"/>
          <a:sy n="136" d="100"/>
        </p:scale>
        <p:origin x="216" y="5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441105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Guten Tag, mein Name ist [Name] und ich präsentiere heute unsere statistische Analyse zu Lebensmittelpreisen und Inflation in Deutschland. Unser Projekt untersucht, wie sich die Preise von 168 Lebensmitteln seit Januar 2020 bis Juni 2025 entwickelt haben und welche Muster sich dahinter verbergen. Mein Aufgabenbereich als Person A umfasst die Datenaufbereitung, deskriptive Statistik sowie die Inferenzstatistik und Hypothesentests. Ich werde Ihnen heute zeigen, welche statistischen Methoden wir eingesetzt haben und zu welchen Erkenntnissen wir gekommen sind.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Die zentrale Fragestellung unseres Projekts lautet: Welche Produktgruppen sind von der Inflation am stärksten betroffen, und wie haben sich Lebensmittelpreise in Deutschland seit 2020 entwickelt? Konkret untersuchen wir vier statistische Teilfragen: Erstens, ob es signifikante Preisunterschiede zwischen Produktgruppen gibt. Zweitens, ob sich die Inflationsrate über die Zeit verändert hat. Drittens, ob Lebensmittelpreise mit dem allgemeinen Verbraucherpreisindex korrelieren. Und viertens, welche Produkte dauerhafte Steigerungen zeigen und welche stabil bleiben. Mein Part – Person A – deckt dabei den statistischen Kern ab: Aufbereitung, Deskriptivanalyse, Hypothesentests und Korrelation.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Die Grundlage unserer Analyse bildet eine Sonderauswertung des Statistischen Bundesamts – Destatis. Der Datensatz enthält monatliche Preisindizes für 168 Lebensmittelprodukte, klassifiziert nach dem europäischen COICOP-System auf 10-Steller-Ebene. Der Beobachtungszeitraum reicht von Januar 2020 bis Juni 2025 und umfasst damit 67 Monate – insgesamt über 11.000 Datenpunkte. Der Preisindex ist auf Basis 2020 gleich 100 normiert, das heißt, er gibt keine absoluten Preise an, sondern relative Veränderungen zum Basisjahr. Bei der Aufbereitung mussten wir fehlende Werte bereinigen – Destatis kodiert fehlende Einträge mit einem Punkt statt NaN. Zudem fehlten für 35 Produkte Daten ab Januar 2025, was wir in der Analyse berücksichtigt haben. Die Daten wurden anschließend ins Long-Format transformiert und um monatliche Veränderungsraten, sogenannte MoM-Werte, ergänzt.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Diese Grafik zeigt den durchschnittlichen Preisindex über alle 168 Produkte hinweg, von Januar 2020 bis Juni 2025. Auffällig ist der klare Aufwärtstrend, der bereits 2021 einsetzt und sich nach dem russischen Angriff auf die Ukraine im Februar 2022 sowie der Energiekrise 2022 deutlich beschleunigt. Ab 2023 flacht die Kurve ab und stabilisiert sich auf einem erhöhten Niveau von rund 137 Punkten. Das bedeutet: Im Durchschnitt sind Lebensmittel in Deutschland seit 2020 um 37,4 Prozent teurer geworden. Das blau schattierte Band zeigt die Standardabweichung und macht deutlich, dass die Preisentwicklung zwischen Produkten sehr unterschiedlich verlaufen ist – einige Produkte stiegen viel stärker, andere kaum. Der Mittelwert liegt mit 0,49 Prozent über dem Median von 0,30 Prozent, was auf eine rechtsschiefe Verteilung hindeutet – wenige Produkte mit extremen Anstiegen ziehen den Durchschnitt nach oben.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Schauen wir uns nun die Produkte an, die besonders stark von der Inflation betroffen sind. Die Grafik zeigt die Top 15 Produkte nach ihrem Gesamtpreisanstieg zwischen Januar 2020 und Juni 2025. Auffällig ist, dass Getränke die Rangliste dominieren: Gemüsesaft führt mit einem Anstieg von 66,5 Prozent, gefolgt von Apfelsaft mit 65,7 Prozent, Multivitaminsaft und Colagetränken. Rot markiert sind alle Produkte mit einem Anstieg von über 50 Prozent – das sind über die Hälfte der Top 15. Auch Mineralwasser, Kakaopulver und Kaffeeprodukte zeigen Anstiege zwischen 55 und 59 Prozent. Der höchste durchschnittliche Preisindex über den gesamten Zeitraum liegt übrigens beim Sonnenblumenöl mit rund 148,8 – das erklärt sich durch den starken Preisschock 2022 infolge des Ukraine-Kriegs, da die Ukraine ein Hauptlieferant von Sonnenblumenöl ist. Die Frage, ob diese Unterschiede zwischen Produkten statistisch signifikant sind, klären wir auf den nächsten Folien.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Diese Folie zeigt die Verteilung aller monatlichen Preisänderungen – also der MoM-Werte – über alle 168 Produkte und 67 Monate hinweg. Insgesamt betrachten wir hier fast 10.500 Beobachtungen nach Filterung der extremen Ausreißer im 1-Prozent- und 99-Prozent-Bereich. Das Histogramm auf der linken Seite zeigt eine deutlich rechtsschiefe Verteilung: Die Mehrzahl der Monate liegt leicht im positiven Bereich, aber einige wenige Monate weisen sehr hohe Preissprünge auf, die den Mittelwert von 0,49 Prozent über den Median von 0,30 Prozent heben. Das bedeutet: In einem typischen Monat stiegen Lebensmittelpreise um rund 0,3 Prozent, aber gelegentlich gab es deutliche Sprünge nach oben. Die Quantil-Tabelle rechts verdeutlicht dies: Das 75. Perzentil liegt bei rund 1,4 Prozent, das 95. Perzentil bereits bei über 4 Prozent monatlichem Anstieg. Preisrückgänge kommen vor, sind aber seltener – das 25. Perzentil liegt noch im leicht negativen Bereich.</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Diese Boxplot-Darstellung zeigt die Streuung der monatlichen Preisänderungen für die 20 Produkte mit den höchsten mittleren MoM-Werten. Jede Box repräsentiert die Interquartilsrange, also den Bereich zwischen dem 25. und 75. Perzentil, und die Linie in der Mitte zeigt den Median. Besonders auffällig ist die extreme Streuung bei Energy-Drinks: einzelne Monate weisen Preissprünge von über 40 Prozent auf – das spiegelt kurzfristige Lieferengpässe oder Aktionspreis-Effekte wider. Gemüsesaft hat den höchsten Median, aber eine moderatere Streuung, was auf einen gleichmäßigeren, dauerhaften Preisanstieg hindeutet. Generell sehen wir bei fast allen Produkten eine Rechtsschiefe: Die Ausreißer liegen überwiegend nach oben, Preisrückgänge sind seltener und weniger extrem. Diese hohe Volatilität deutet darauf hin, dass punktuelle externe Schocks – Energie, Lieferketten, Klimaereignisse – einen größeren Einfluss haben als graduelle, strukturelle Preisentwicklung.</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Jetzt kommen wir zur Inferenzstatistik. Die erste Frage lautet: Gibt es statistisch signifikante Unterschiede in den monatlichen Preisänderungen zwischen verschiedenen Produktgruppen? Dafür haben wir eine einfaktorielle Varianzanalyse, kurz ANOVA, durchgeführt. Die Nullhypothese lautet, dass alle 168 Produktgruppen im Mittel gleich stark steigen. Das Ergebnis ist überraschend klar: Der F-Wert beträgt 0,408 und der p-Wert liegt bei fast exakt 1,000 – weit über dem Signifikanzniveau von 0,05. Wir können die Nullhypothese also nicht ablehnen. Das bedeutet: Statistisch gesehen steigen alle Produktgruppen ähnlich stark. Die enorme Residualvarianz von über 598.000 im Vergleich zur erklärten Varianz von 3.800 zeigt, dass die Produktzugehörigkeit kaum etwas zur Erklärung der Preisunterschiede beiträgt. Anders formuliert: Die Inflation ist ein gesamtwirtschaftliches Phänomen, das keine Lebensmittelkategorie verschont – aber auch keine besonders hervorhebt, wenn man alle Monate zusammen betrachtet.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Auch wenn die ANOVA keine Gruppenunterschiede zeigt, stellt sich die Frage: Hat sich die Inflationsgeschwindigkeit selbst über die Zeit verändert? Dafür haben wir einen Zweistichproben-t-Test durchgeführt und den Datensatz in zwei Phasen unterteilt: Die Frühphase von Januar 2020 bis Juni 2022, also die Zeit von Pandemiebeginn bis kurz nach dem Ukraine-Kriegsbeginn, und die Spätphase von Juli 2022 bis Juni 2025, also die Phase der Normalisierung und des Abbaus der Energiepreiskrise. Das Ergebnis ist eindeutig und statistisch hochsignifikant: In der Frühphase betrug die mittlere monatliche Preisänderung 0,684 Prozent, in der Spätphase nur noch 0,345 Prozent. Der t-Wert von 5,05 und der p-Wert von unter 0,001 zeigen, dass dieser Unterschied kein Zufall ist. Das 95-Prozent-Konfidenzintervall für die Differenz von 0,208 bis 0,471 Prozent schließt die Null nicht ein – der Effekt ist real. Fazit: Die Inflation hat sich in der Spätphase deutlich verlangsamt, auch wenn das absolute Preisniveau weiterhin hoch bleibt.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Eine weitere wichtige Frage ist, ob die Lebensmittelpreise dem allgemeinen Verbraucherpreisindex, kurz CPI, folgen. Dafür haben wir die monatlichen Preisänderungen jedes Produkts mit dem Gesamt-CPI korreliert. Das überraschende Ergebnis: Die Gesamtkorrelation liegt bei nur r gleich 0,08 – das ist statistisch kaum bedeutsam. Das bedeutet, dass Lebensmittelpreise sich weitgehend unabhängig vom allgemeinen Preisniveau entwickeln und einer eigenen Preislogik folgen. Interessant ist jedoch der Blick auf die Einzelprodukte: Stangenspargel, Weißbrot und Roggenbrot korrelieren mit r um die 0,4 am stärksten mit dem CPI – sie reagieren also noch am ehesten auf allgemeine wirtschaftliche Veränderungen. Getränke und verarbeitete Produkte zeigen dagegen kaum CPI-Abhängigkeit – ihre Preise werden stärker von rohstoffspezifischen Faktoren wie Erntemengen, Energiekosten für die Verarbeitung oder globalen Lieferketten bestimmt. Das Histogramm rechts zeigt, dass die Mehrzahl der Korrelationskoeffizienten zwischen 0 und 0,3 liegt – also durchweg im schwachen Bereich.</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Als Post-hoc-Test zur ANOVA haben wir den Tukey-HSD-Test durchgeführt, der alle Produktpaare paarweise vergleicht und dabei für multiples Testen korrigiert. Der Test zeigt, dass insgesamt nur sehr wenige Produktpaare einen statistisch signifikanten Unterschied in ihrer mittleren MoM-Änderung aufweisen. Die signifikantesten Unterschiede finden sich zwischen saisonalen Produkten – insbesondere Gurken – und ganzjährig verfügbaren Standardprodukten. Das ist inhaltlich plausibel: Gurken und andere Saisongemüse unterliegen starken saisonalen Preisschwankungen, während Dauerprodukte wie Brot oder Konserven stabiler sind. Insgesamt bestätigt der Tukey-Test das ANOVA-Ergebnis: Die Unterschiede zwischen den Gruppen sind minimal, und die Inflation zeigt kein produktspezifisches Muster. Diese Erkenntnis ist wichtig für das Dashboard: Produktvergleiche auf MoM-Basis sind wenig aussagekräftig – besser ist der Blick auf absolute Indexniveaus oder Gesamtpreisanstiege über den vollen Zeitraum.</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Lassen Sie mich nun die zentralen statistischen Erkenntnisse unserer Analyse zusammenfassen. Erstens: Lebensmittel sind in Deutschland seit 2020 im Durchschnitt um 37,4 Prozent teurer geworden – das ist der Gesamtpreisanstieg über alle 168 Produkte und 67 Monate. Zweitens: Die Inflationsgeschwindigkeit hat sich verändert. In der Frühphase bis Mitte 2022 stiegen die Preise im Schnitt um 0,68 Prozent pro Monat, in der Spätphase nur noch um 0,35 Prozent – ein statistisch hochsignifikanter Rückgang. Drittens: Getränke sind die am stärksten betroffene Kategorie – Säfte und Mineralwasser verzeichnen Anstiege von 60 bis 67 Prozent. Viertens: Lebensmittelpreise korrelieren kaum mit dem allgemeinen CPI – sie folgen einer eigenen Preislogik, getrieben von rohstoffspezifischen und lieferkettenbedingten Faktoren. Fünftens: Trotz dieser großen Unterschiede im Gesamtanstieg zeigt die ANOVA, dass die monatlichen Änderungsraten zwischen den Gruppen statistisch nicht signifikant verschieden sind. Und sechstens: Die hohe monatliche Volatilität mit einer Standardabweichung von rund 2,5 Prozent zeigt, dass einzelne externe Schocks die Preisentwicklung dominieren.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Abschließend möchte ich auf die Herausforderungen und den Ausblick eingehen. Die größte methodische Herausforderung war, dass der Datensatz nur Preisindizes enthält – keine absoluten Preise in Euro. Das schränkt die Kommunikation der Ergebnisse an ein breites Publikum ein, da Menschen besser mit konkreten Preisangaben umgehen können. Außerdem ist die ANOVA-Annahme der Normalverteilung bei unseren MoM-Daten nur bedingt erfüllt, weshalb wir als Robustheitsprüfung einen Kruskal-Wallis-Test anbieten könnten. Für die Weiterentwicklung des Projekts sehen wir mehrere Ansätze: Die Integration von Erzeugerpreisen würde erlauben, Preissteigerungen früher zu antizipieren. Ein Vergleich mit EU-Nachbarländern über Eurostat-Daten würde zeigen, ob Deutschland besonders stark oder weniger stark betroffen war. Und die Analyse nach Risikogruppen – also Haushalten mit geringem Einkommen – würde die soziale Dimension der Lebensmittelinflation beleuchten. Für das Shiny-Dashboard bieten unsere Ergebnisse direkte Ansatzpunkte: Ein interaktiver Phasenvergleich, eine Korrelations-Heatmap und eine direkte Anzeige der Testergebnisse würden das Dashboard statistisch fundierter machen. Vielen Dank für Ihre Aufmerksamkeit – ich übergebe nun an meine Kolleginnen und Kollegen.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6/4/26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‹Nr.›</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3840480"/>
            <a:ext cx="12188952" cy="64008"/>
          </a:xfrm>
          <a:prstGeom prst="rect">
            <a:avLst/>
          </a:prstGeom>
          <a:solidFill>
            <a:srgbClr val="E84E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371600"/>
            <a:ext cx="10881360" cy="1645920"/>
          </a:xfrm>
          <a:prstGeom prst="rect">
            <a:avLst/>
          </a:prstGeom>
          <a:noFill/>
        </p:spPr>
        <p:txBody>
          <a:bodyPr wrap="square">
            <a:spAutoFit/>
          </a:bodyPr>
          <a:lstStyle/>
          <a:p>
            <a:pPr algn="l"/>
            <a:r>
              <a:rPr sz="4400" b="1">
                <a:solidFill>
                  <a:srgbClr val="FFFFFF"/>
                </a:solidFill>
              </a:rPr>
              <a:t>Lebensmittelpreise &amp; Inflation</a:t>
            </a:r>
          </a:p>
          <a:p>
            <a:pPr algn="l"/>
            <a:r>
              <a:rPr sz="4400" b="1">
                <a:solidFill>
                  <a:srgbClr val="FFFFFF"/>
                </a:solidFill>
              </a:rPr>
              <a:t>in Deutschland</a:t>
            </a:r>
          </a:p>
        </p:txBody>
      </p:sp>
      <p:sp>
        <p:nvSpPr>
          <p:cNvPr id="5" name="TextBox 4"/>
          <p:cNvSpPr txBox="1"/>
          <p:nvPr/>
        </p:nvSpPr>
        <p:spPr>
          <a:xfrm>
            <a:off x="640080" y="3108960"/>
            <a:ext cx="10881360" cy="548640"/>
          </a:xfrm>
          <a:prstGeom prst="rect">
            <a:avLst/>
          </a:prstGeom>
          <a:noFill/>
        </p:spPr>
        <p:txBody>
          <a:bodyPr wrap="none">
            <a:spAutoFit/>
          </a:bodyPr>
          <a:lstStyle/>
          <a:p>
            <a:r>
              <a:rPr sz="1600">
                <a:solidFill>
                  <a:srgbClr val="B0C8E0"/>
                </a:solidFill>
              </a:rPr>
              <a:t>Statistische Analyse von Preisentwicklungen · Daten &amp; Statistik (Person A)</a:t>
            </a:r>
          </a:p>
        </p:txBody>
      </p:sp>
      <p:sp>
        <p:nvSpPr>
          <p:cNvPr id="6" name="TextBox 5"/>
          <p:cNvSpPr txBox="1"/>
          <p:nvPr/>
        </p:nvSpPr>
        <p:spPr>
          <a:xfrm>
            <a:off x="640080" y="4206240"/>
            <a:ext cx="10881360" cy="1371600"/>
          </a:xfrm>
          <a:prstGeom prst="rect">
            <a:avLst/>
          </a:prstGeom>
          <a:noFill/>
        </p:spPr>
        <p:txBody>
          <a:bodyPr wrap="square">
            <a:spAutoFit/>
          </a:bodyPr>
          <a:lstStyle/>
          <a:p>
            <a:r>
              <a:rPr sz="1300">
                <a:solidFill>
                  <a:srgbClr val="C0D8F0"/>
                </a:solidFill>
              </a:rPr>
              <a:t>Datenquelle: Statistisches Bundesamt (Destatis)</a:t>
            </a:r>
          </a:p>
          <a:p>
            <a:r>
              <a:rPr sz="1300">
                <a:solidFill>
                  <a:srgbClr val="C0D8F0"/>
                </a:solidFill>
              </a:rPr>
              <a:t>Zeitraum: Januar 2020 – Juni 2025</a:t>
            </a:r>
          </a:p>
          <a:p>
            <a:r>
              <a:rPr sz="1300">
                <a:solidFill>
                  <a:srgbClr val="C0D8F0"/>
                </a:solidFill>
              </a:rPr>
              <a:t>Stochastik-Prüfungsleistung · Sommersemester 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l"/>
            <a:r>
              <a:rPr sz="2800" b="1">
                <a:solidFill>
                  <a:srgbClr val="FFFFFF"/>
                </a:solidFill>
              </a:rPr>
              <a:t>Projektziel &amp; Fragestellung</a:t>
            </a:r>
          </a:p>
        </p:txBody>
      </p:sp>
      <p:sp>
        <p:nvSpPr>
          <p:cNvPr id="3" name="Rectangle 2"/>
          <p:cNvSpPr/>
          <p:nvPr/>
        </p:nvSpPr>
        <p:spPr>
          <a:xfrm>
            <a:off x="0" y="1005840"/>
            <a:ext cx="12188952" cy="36576"/>
          </a:xfrm>
          <a:prstGeom prst="rect">
            <a:avLst/>
          </a:prstGeom>
          <a:solidFill>
            <a:srgbClr val="E84E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492240"/>
            <a:ext cx="12188952" cy="365760"/>
          </a:xfrm>
          <a:prstGeom prst="rect">
            <a:avLst/>
          </a:prstGeom>
          <a:solidFill>
            <a:srgbClr val="0D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0">
                <a:solidFill>
                  <a:srgbClr val="80A0C0"/>
                </a:solidFill>
              </a:rPr>
              <a:t>Lebensmittelpreise &amp; Inflation in Deutschland · Stochastik-Projekt 2025</a:t>
            </a:r>
          </a:p>
        </p:txBody>
      </p:sp>
      <p:sp>
        <p:nvSpPr>
          <p:cNvPr id="5" name="TextBox 4"/>
          <p:cNvSpPr txBox="1"/>
          <p:nvPr/>
        </p:nvSpPr>
        <p:spPr>
          <a:xfrm>
            <a:off x="365760" y="1188720"/>
            <a:ext cx="11430000" cy="457200"/>
          </a:xfrm>
          <a:prstGeom prst="rect">
            <a:avLst/>
          </a:prstGeom>
          <a:noFill/>
        </p:spPr>
        <p:txBody>
          <a:bodyPr wrap="square">
            <a:spAutoFit/>
          </a:bodyPr>
          <a:lstStyle/>
          <a:p>
            <a:pPr algn="l"/>
            <a:r>
              <a:rPr sz="1500" b="1">
                <a:solidFill>
                  <a:srgbClr val="1A3A5C"/>
                </a:solidFill>
              </a:rPr>
              <a:t>Welche Produktgruppen sind von der Inflation am stärksten betroffen und wie haben sich Lebensmittelpreise in Deutschland seit 2020 entwickelt?</a:t>
            </a:r>
          </a:p>
        </p:txBody>
      </p:sp>
      <p:sp>
        <p:nvSpPr>
          <p:cNvPr id="6" name="Rectangle 5"/>
          <p:cNvSpPr/>
          <p:nvPr/>
        </p:nvSpPr>
        <p:spPr>
          <a:xfrm>
            <a:off x="365760" y="1828800"/>
            <a:ext cx="5394960" cy="2560320"/>
          </a:xfrm>
          <a:prstGeom prst="rect">
            <a:avLst/>
          </a:prstGeom>
          <a:solidFill>
            <a:srgbClr val="F0F4F8"/>
          </a:solidFill>
          <a:ln w="12700">
            <a:solidFill>
              <a:srgbClr val="1A3A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400" b="1">
                <a:solidFill>
                  <a:srgbClr val="1A3A5C"/>
                </a:solidFill>
              </a:rPr>
              <a:t>Wissenschaftliche Fragestellungen</a:t>
            </a:r>
          </a:p>
          <a:p>
            <a:pPr algn="l">
              <a:spcBef>
                <a:spcPts val="300"/>
              </a:spcBef>
            </a:pPr>
            <a:r>
              <a:rPr sz="1200">
                <a:solidFill>
                  <a:srgbClr val="2D2D2D"/>
                </a:solidFill>
              </a:rPr>
              <a:t>  • Gibt es signifikante Preisunterschiede zwischen Produktgruppen?</a:t>
            </a:r>
          </a:p>
          <a:p>
            <a:pPr algn="l">
              <a:spcBef>
                <a:spcPts val="300"/>
              </a:spcBef>
            </a:pPr>
            <a:r>
              <a:rPr sz="1200">
                <a:solidFill>
                  <a:srgbClr val="2D2D2D"/>
                </a:solidFill>
              </a:rPr>
              <a:t>  • Hat sich die Inflationsrate über die Zeit verändert?</a:t>
            </a:r>
          </a:p>
          <a:p>
            <a:pPr algn="l">
              <a:spcBef>
                <a:spcPts val="300"/>
              </a:spcBef>
            </a:pPr>
            <a:r>
              <a:rPr sz="1200">
                <a:solidFill>
                  <a:srgbClr val="2D2D2D"/>
                </a:solidFill>
              </a:rPr>
              <a:t>  • Korrelieren Lebensmittelpreise mit dem allgemeinen CPI?</a:t>
            </a:r>
          </a:p>
          <a:p>
            <a:pPr algn="l">
              <a:spcBef>
                <a:spcPts val="300"/>
              </a:spcBef>
            </a:pPr>
            <a:r>
              <a:rPr sz="1200">
                <a:solidFill>
                  <a:srgbClr val="2D2D2D"/>
                </a:solidFill>
              </a:rPr>
              <a:t>  • Welche Produkte zeigen dauerhafte Steigerungen vs. Stabilität?</a:t>
            </a:r>
          </a:p>
        </p:txBody>
      </p:sp>
      <p:sp>
        <p:nvSpPr>
          <p:cNvPr id="7" name="Rectangle 6"/>
          <p:cNvSpPr/>
          <p:nvPr/>
        </p:nvSpPr>
        <p:spPr>
          <a:xfrm>
            <a:off x="5943600" y="1828800"/>
            <a:ext cx="5852160" cy="2560320"/>
          </a:xfrm>
          <a:prstGeom prst="rect">
            <a:avLst/>
          </a:prstGeom>
          <a:solidFill>
            <a:srgbClr val="FFF5EC"/>
          </a:solidFill>
          <a:ln w="12700">
            <a:solidFill>
              <a:srgbClr val="E84E1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400" b="1">
                <a:solidFill>
                  <a:srgbClr val="1A3A5C"/>
                </a:solidFill>
              </a:rPr>
              <a:t>Analyseumfang (Person A)</a:t>
            </a:r>
          </a:p>
          <a:p>
            <a:pPr algn="l">
              <a:spcBef>
                <a:spcPts val="300"/>
              </a:spcBef>
            </a:pPr>
            <a:r>
              <a:rPr sz="1200">
                <a:solidFill>
                  <a:srgbClr val="2D2D2D"/>
                </a:solidFill>
              </a:rPr>
              <a:t>  • Datenaufbereitung &amp; Bereinigung</a:t>
            </a:r>
          </a:p>
          <a:p>
            <a:pPr algn="l">
              <a:spcBef>
                <a:spcPts val="300"/>
              </a:spcBef>
            </a:pPr>
            <a:r>
              <a:rPr sz="1200">
                <a:solidFill>
                  <a:srgbClr val="2D2D2D"/>
                </a:solidFill>
              </a:rPr>
              <a:t>  • Deskriptive Statistik aller 168 Produkte</a:t>
            </a:r>
          </a:p>
          <a:p>
            <a:pPr algn="l">
              <a:spcBef>
                <a:spcPts val="300"/>
              </a:spcBef>
            </a:pPr>
            <a:r>
              <a:rPr sz="1200">
                <a:solidFill>
                  <a:srgbClr val="2D2D2D"/>
                </a:solidFill>
              </a:rPr>
              <a:t>  • Inferenzstatistik: ANOVA, t-Test</a:t>
            </a:r>
          </a:p>
          <a:p>
            <a:pPr algn="l">
              <a:spcBef>
                <a:spcPts val="300"/>
              </a:spcBef>
            </a:pPr>
            <a:r>
              <a:rPr sz="1200">
                <a:solidFill>
                  <a:srgbClr val="2D2D2D"/>
                </a:solidFill>
              </a:rPr>
              <a:t>  • Korrelationsanalyse mit CPI-Inflation</a:t>
            </a:r>
          </a:p>
          <a:p>
            <a:pPr algn="l">
              <a:spcBef>
                <a:spcPts val="300"/>
              </a:spcBef>
            </a:pPr>
            <a:r>
              <a:rPr sz="1200">
                <a:solidFill>
                  <a:srgbClr val="2D2D2D"/>
                </a:solidFill>
              </a:rPr>
              <a:t>  • Hypothesentests &amp; Interpretation</a:t>
            </a:r>
          </a:p>
        </p:txBody>
      </p:sp>
      <p:sp>
        <p:nvSpPr>
          <p:cNvPr id="8" name="TextBox 7"/>
          <p:cNvSpPr txBox="1"/>
          <p:nvPr/>
        </p:nvSpPr>
        <p:spPr>
          <a:xfrm>
            <a:off x="365760" y="4572000"/>
            <a:ext cx="11430000" cy="548640"/>
          </a:xfrm>
          <a:prstGeom prst="rect">
            <a:avLst/>
          </a:prstGeom>
          <a:noFill/>
        </p:spPr>
        <p:txBody>
          <a:bodyPr wrap="square">
            <a:spAutoFit/>
          </a:bodyPr>
          <a:lstStyle/>
          <a:p>
            <a:pPr algn="l"/>
            <a:r>
              <a:rPr sz="1200" b="0">
                <a:solidFill>
                  <a:srgbClr val="6C6C6C"/>
                </a:solidFill>
              </a:rPr>
              <a:t>Stack: Python · Pandas · SciPy · Matplotlib · Seaborn   |   Dashboard: R · Shiny · ggplot2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l"/>
            <a:r>
              <a:rPr sz="2800" b="1">
                <a:solidFill>
                  <a:srgbClr val="FFFFFF"/>
                </a:solidFill>
              </a:rPr>
              <a:t>Datengrundlage</a:t>
            </a:r>
          </a:p>
          <a:p>
            <a:pPr algn="l"/>
            <a:r>
              <a:rPr sz="1300">
                <a:solidFill>
                  <a:srgbClr val="B0C8E0"/>
                </a:solidFill>
              </a:rPr>
              <a:t>Statistisches Bundesamt (Destatis) · Sonderauswertung Nahrungsmittelpreise</a:t>
            </a:r>
          </a:p>
        </p:txBody>
      </p:sp>
      <p:sp>
        <p:nvSpPr>
          <p:cNvPr id="3" name="Rectangle 2"/>
          <p:cNvSpPr/>
          <p:nvPr/>
        </p:nvSpPr>
        <p:spPr>
          <a:xfrm>
            <a:off x="0" y="1005840"/>
            <a:ext cx="12188952" cy="36576"/>
          </a:xfrm>
          <a:prstGeom prst="rect">
            <a:avLst/>
          </a:prstGeom>
          <a:solidFill>
            <a:srgbClr val="E84E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492240"/>
            <a:ext cx="12188952" cy="365760"/>
          </a:xfrm>
          <a:prstGeom prst="rect">
            <a:avLst/>
          </a:prstGeom>
          <a:solidFill>
            <a:srgbClr val="0D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0">
                <a:solidFill>
                  <a:srgbClr val="80A0C0"/>
                </a:solidFill>
              </a:rPr>
              <a:t>Lebensmittelpreise &amp; Inflation in Deutschland · Stochastik-Projekt 2025</a:t>
            </a:r>
          </a:p>
        </p:txBody>
      </p:sp>
      <p:sp>
        <p:nvSpPr>
          <p:cNvPr id="5" name="Rectangle 4"/>
          <p:cNvSpPr/>
          <p:nvPr/>
        </p:nvSpPr>
        <p:spPr>
          <a:xfrm>
            <a:off x="365760" y="1188720"/>
            <a:ext cx="2560320" cy="1280160"/>
          </a:xfrm>
          <a:prstGeom prst="rect">
            <a:avLst/>
          </a:prstGeom>
          <a:solidFill>
            <a:srgbClr val="FFFFFF"/>
          </a:solidFill>
          <a:ln w="19050">
            <a:solidFill>
              <a:srgbClr val="1A3A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600" b="1">
                <a:solidFill>
                  <a:srgbClr val="E84E1B"/>
                </a:solidFill>
              </a:rPr>
              <a:t>168</a:t>
            </a:r>
          </a:p>
          <a:p>
            <a:pPr algn="ctr"/>
            <a:r>
              <a:rPr sz="1000">
                <a:solidFill>
                  <a:srgbClr val="6C6C6C"/>
                </a:solidFill>
              </a:rPr>
              <a:t>Lebensmittelprodukte</a:t>
            </a:r>
          </a:p>
        </p:txBody>
      </p:sp>
      <p:sp>
        <p:nvSpPr>
          <p:cNvPr id="6" name="Rectangle 5"/>
          <p:cNvSpPr/>
          <p:nvPr/>
        </p:nvSpPr>
        <p:spPr>
          <a:xfrm>
            <a:off x="3108960" y="1188720"/>
            <a:ext cx="2560320" cy="1280160"/>
          </a:xfrm>
          <a:prstGeom prst="rect">
            <a:avLst/>
          </a:prstGeom>
          <a:solidFill>
            <a:srgbClr val="FFFFFF"/>
          </a:solidFill>
          <a:ln w="19050">
            <a:solidFill>
              <a:srgbClr val="1A3A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600" b="1">
                <a:solidFill>
                  <a:srgbClr val="E84E1B"/>
                </a:solidFill>
              </a:rPr>
              <a:t>67</a:t>
            </a:r>
          </a:p>
          <a:p>
            <a:pPr algn="ctr"/>
            <a:r>
              <a:rPr sz="1000">
                <a:solidFill>
                  <a:srgbClr val="6C6C6C"/>
                </a:solidFill>
              </a:rPr>
              <a:t>Monate (Jan 2020–Jun 2025)</a:t>
            </a:r>
          </a:p>
        </p:txBody>
      </p:sp>
      <p:sp>
        <p:nvSpPr>
          <p:cNvPr id="7" name="Rectangle 6"/>
          <p:cNvSpPr/>
          <p:nvPr/>
        </p:nvSpPr>
        <p:spPr>
          <a:xfrm>
            <a:off x="5852160" y="1188720"/>
            <a:ext cx="2560320" cy="1280160"/>
          </a:xfrm>
          <a:prstGeom prst="rect">
            <a:avLst/>
          </a:prstGeom>
          <a:solidFill>
            <a:srgbClr val="FFFFFF"/>
          </a:solidFill>
          <a:ln w="19050">
            <a:solidFill>
              <a:srgbClr val="1A3A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600" b="1">
                <a:solidFill>
                  <a:srgbClr val="E84E1B"/>
                </a:solidFill>
              </a:rPr>
              <a:t>11.046</a:t>
            </a:r>
          </a:p>
          <a:p>
            <a:pPr algn="ctr"/>
            <a:r>
              <a:rPr sz="1000">
                <a:solidFill>
                  <a:srgbClr val="6C6C6C"/>
                </a:solidFill>
              </a:rPr>
              <a:t>Datenpunkte gesamt</a:t>
            </a:r>
          </a:p>
        </p:txBody>
      </p:sp>
      <p:sp>
        <p:nvSpPr>
          <p:cNvPr id="8" name="Rectangle 7"/>
          <p:cNvSpPr/>
          <p:nvPr/>
        </p:nvSpPr>
        <p:spPr>
          <a:xfrm>
            <a:off x="8595360" y="1188720"/>
            <a:ext cx="2834640" cy="1280160"/>
          </a:xfrm>
          <a:prstGeom prst="rect">
            <a:avLst/>
          </a:prstGeom>
          <a:solidFill>
            <a:srgbClr val="FFFFFF"/>
          </a:solidFill>
          <a:ln w="19050">
            <a:solidFill>
              <a:srgbClr val="1A3A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600" b="1">
                <a:solidFill>
                  <a:srgbClr val="E84E1B"/>
                </a:solidFill>
              </a:rPr>
              <a:t>COICOP</a:t>
            </a:r>
          </a:p>
          <a:p>
            <a:pPr algn="ctr"/>
            <a:r>
              <a:rPr sz="1000">
                <a:solidFill>
                  <a:srgbClr val="6C6C6C"/>
                </a:solidFill>
              </a:rPr>
              <a:t>10-Steller Klassifikation</a:t>
            </a:r>
          </a:p>
        </p:txBody>
      </p:sp>
      <p:sp>
        <p:nvSpPr>
          <p:cNvPr id="9" name="Rectangle 8"/>
          <p:cNvSpPr/>
          <p:nvPr/>
        </p:nvSpPr>
        <p:spPr>
          <a:xfrm>
            <a:off x="365760" y="2697480"/>
            <a:ext cx="5394960" cy="2651760"/>
          </a:xfrm>
          <a:prstGeom prst="rect">
            <a:avLst/>
          </a:prstGeom>
          <a:solidFill>
            <a:srgbClr val="F0F4F8"/>
          </a:solidFill>
          <a:ln w="12700">
            <a:solidFill>
              <a:srgbClr val="1A3A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400" b="1">
                <a:solidFill>
                  <a:srgbClr val="1A3A5C"/>
                </a:solidFill>
              </a:rPr>
              <a:t>Datenstruktur</a:t>
            </a:r>
          </a:p>
          <a:p>
            <a:pPr algn="l">
              <a:spcBef>
                <a:spcPts val="300"/>
              </a:spcBef>
            </a:pPr>
            <a:r>
              <a:rPr sz="1200">
                <a:solidFill>
                  <a:srgbClr val="2D2D2D"/>
                </a:solidFill>
              </a:rPr>
              <a:t>  • Preisindex (Basis: Ø 2020 = 100)</a:t>
            </a:r>
          </a:p>
          <a:p>
            <a:pPr algn="l">
              <a:spcBef>
                <a:spcPts val="300"/>
              </a:spcBef>
            </a:pPr>
            <a:r>
              <a:rPr sz="1200">
                <a:solidFill>
                  <a:srgbClr val="2D2D2D"/>
                </a:solidFill>
              </a:rPr>
              <a:t>  • Monatliche Granularität</a:t>
            </a:r>
          </a:p>
          <a:p>
            <a:pPr algn="l">
              <a:spcBef>
                <a:spcPts val="300"/>
              </a:spcBef>
            </a:pPr>
            <a:r>
              <a:rPr sz="1200">
                <a:solidFill>
                  <a:srgbClr val="2D2D2D"/>
                </a:solidFill>
              </a:rPr>
              <a:t>  • Produktkategorie + COICOP-Kennung</a:t>
            </a:r>
          </a:p>
          <a:p>
            <a:pPr algn="l">
              <a:spcBef>
                <a:spcPts val="300"/>
              </a:spcBef>
            </a:pPr>
            <a:r>
              <a:rPr sz="1200">
                <a:solidFill>
                  <a:srgbClr val="2D2D2D"/>
                </a:solidFill>
              </a:rPr>
              <a:t>  • Fehlende Werte: 35 Produkte ab Jan 2025</a:t>
            </a:r>
          </a:p>
          <a:p>
            <a:pPr algn="l">
              <a:spcBef>
                <a:spcPts val="300"/>
              </a:spcBef>
            </a:pPr>
            <a:r>
              <a:rPr sz="1200">
                <a:solidFill>
                  <a:srgbClr val="2D2D2D"/>
                </a:solidFill>
              </a:rPr>
              <a:t>  • Bereinigung: '.' → NaN, nicht relevante Zeilen entfernt</a:t>
            </a:r>
          </a:p>
        </p:txBody>
      </p:sp>
      <p:sp>
        <p:nvSpPr>
          <p:cNvPr id="10" name="Rectangle 9"/>
          <p:cNvSpPr/>
          <p:nvPr/>
        </p:nvSpPr>
        <p:spPr>
          <a:xfrm>
            <a:off x="5943600" y="2697480"/>
            <a:ext cx="5852160" cy="2651760"/>
          </a:xfrm>
          <a:prstGeom prst="rect">
            <a:avLst/>
          </a:prstGeom>
          <a:solidFill>
            <a:srgbClr val="ECF5FF"/>
          </a:solidFill>
          <a:ln w="12700">
            <a:solidFill>
              <a:srgbClr val="1A3A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400" b="1">
                <a:solidFill>
                  <a:srgbClr val="1A3A5C"/>
                </a:solidFill>
              </a:rPr>
              <a:t>Datenqualität &amp; Aufbereitung</a:t>
            </a:r>
          </a:p>
          <a:p>
            <a:pPr algn="l">
              <a:spcBef>
                <a:spcPts val="300"/>
              </a:spcBef>
            </a:pPr>
            <a:r>
              <a:rPr sz="1200">
                <a:solidFill>
                  <a:srgbClr val="2D2D2D"/>
                </a:solidFill>
              </a:rPr>
              <a:t>  • Originaldaten: Excel-Datei (68 Spalten, 168 Zeilen)</a:t>
            </a:r>
          </a:p>
          <a:p>
            <a:pPr algn="l">
              <a:spcBef>
                <a:spcPts val="300"/>
              </a:spcBef>
            </a:pPr>
            <a:r>
              <a:rPr sz="1200">
                <a:solidFill>
                  <a:srgbClr val="2D2D2D"/>
                </a:solidFill>
              </a:rPr>
              <a:t>  • Long-Format: Datum + Produkt + Preisindex</a:t>
            </a:r>
          </a:p>
          <a:p>
            <a:pPr algn="l">
              <a:spcBef>
                <a:spcPts val="300"/>
              </a:spcBef>
            </a:pPr>
            <a:r>
              <a:rPr sz="1200">
                <a:solidFill>
                  <a:srgbClr val="2D2D2D"/>
                </a:solidFill>
              </a:rPr>
              <a:t>  • MoM-Änderungen (Month-over-Month) berechnet</a:t>
            </a:r>
          </a:p>
          <a:p>
            <a:pPr algn="l">
              <a:spcBef>
                <a:spcPts val="300"/>
              </a:spcBef>
            </a:pPr>
            <a:r>
              <a:rPr sz="1200">
                <a:solidFill>
                  <a:srgbClr val="2D2D2D"/>
                </a:solidFill>
              </a:rPr>
              <a:t>  • Kategorisierung nach COICOP-Klassen</a:t>
            </a:r>
          </a:p>
          <a:p>
            <a:pPr algn="l">
              <a:spcBef>
                <a:spcPts val="300"/>
              </a:spcBef>
            </a:pPr>
            <a:r>
              <a:rPr sz="1200">
                <a:solidFill>
                  <a:srgbClr val="2D2D2D"/>
                </a:solidFill>
              </a:rPr>
              <a:t>  • Geprüft: Ausreißer, Datumsformate, Typen</a:t>
            </a:r>
          </a:p>
        </p:txBody>
      </p:sp>
      <p:sp>
        <p:nvSpPr>
          <p:cNvPr id="11" name="TextBox 10"/>
          <p:cNvSpPr txBox="1"/>
          <p:nvPr/>
        </p:nvSpPr>
        <p:spPr>
          <a:xfrm>
            <a:off x="365760" y="5486400"/>
            <a:ext cx="11430000" cy="457200"/>
          </a:xfrm>
          <a:prstGeom prst="rect">
            <a:avLst/>
          </a:prstGeom>
          <a:noFill/>
        </p:spPr>
        <p:txBody>
          <a:bodyPr wrap="square">
            <a:spAutoFit/>
          </a:bodyPr>
          <a:lstStyle/>
          <a:p>
            <a:pPr algn="l"/>
            <a:r>
              <a:rPr sz="900" b="0">
                <a:solidFill>
                  <a:srgbClr val="6C6C6C"/>
                </a:solidFill>
              </a:rPr>
              <a:t>Quelle: Statistisches Bundesamt, Sonderauswertung Nahrungsmittel-Preisindizes nach COICOP (10-Steller), unveröffentlicht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l"/>
            <a:r>
              <a:rPr sz="2800" b="1">
                <a:solidFill>
                  <a:srgbClr val="FFFFFF"/>
                </a:solidFill>
              </a:rPr>
              <a:t>Deskriptive Statistik – Gesamtüberblick</a:t>
            </a:r>
          </a:p>
        </p:txBody>
      </p:sp>
      <p:sp>
        <p:nvSpPr>
          <p:cNvPr id="3" name="Rectangle 2"/>
          <p:cNvSpPr/>
          <p:nvPr/>
        </p:nvSpPr>
        <p:spPr>
          <a:xfrm>
            <a:off x="0" y="1005840"/>
            <a:ext cx="12188952" cy="36576"/>
          </a:xfrm>
          <a:prstGeom prst="rect">
            <a:avLst/>
          </a:prstGeom>
          <a:solidFill>
            <a:srgbClr val="E84E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492240"/>
            <a:ext cx="12188952" cy="365760"/>
          </a:xfrm>
          <a:prstGeom prst="rect">
            <a:avLst/>
          </a:prstGeom>
          <a:solidFill>
            <a:srgbClr val="0D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0">
                <a:solidFill>
                  <a:srgbClr val="80A0C0"/>
                </a:solidFill>
              </a:rPr>
              <a:t>Lebensmittelpreise &amp; Inflation in Deutschland · Stochastik-Projekt 2025</a:t>
            </a:r>
          </a:p>
        </p:txBody>
      </p:sp>
      <p:sp>
        <p:nvSpPr>
          <p:cNvPr id="5" name="Rectangle 4"/>
          <p:cNvSpPr/>
          <p:nvPr/>
        </p:nvSpPr>
        <p:spPr>
          <a:xfrm>
            <a:off x="365760" y="1188720"/>
            <a:ext cx="2286000" cy="1188720"/>
          </a:xfrm>
          <a:prstGeom prst="rect">
            <a:avLst/>
          </a:prstGeom>
          <a:solidFill>
            <a:srgbClr val="FFFFFF"/>
          </a:solidFill>
          <a:ln w="19050">
            <a:solidFill>
              <a:srgbClr val="1A3A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600" b="1">
                <a:solidFill>
                  <a:srgbClr val="E84E1B"/>
                </a:solidFill>
              </a:rPr>
              <a:t>+37,4 %</a:t>
            </a:r>
          </a:p>
          <a:p>
            <a:pPr algn="ctr"/>
            <a:r>
              <a:rPr sz="1000">
                <a:solidFill>
                  <a:srgbClr val="6C6C6C"/>
                </a:solidFill>
              </a:rPr>
              <a:t>Gesamtpreisanstieg Ø</a:t>
            </a:r>
          </a:p>
        </p:txBody>
      </p:sp>
      <p:sp>
        <p:nvSpPr>
          <p:cNvPr id="6" name="Rectangle 5"/>
          <p:cNvSpPr/>
          <p:nvPr/>
        </p:nvSpPr>
        <p:spPr>
          <a:xfrm>
            <a:off x="2834640" y="1188720"/>
            <a:ext cx="2286000" cy="1188720"/>
          </a:xfrm>
          <a:prstGeom prst="rect">
            <a:avLst/>
          </a:prstGeom>
          <a:solidFill>
            <a:srgbClr val="FFFFFF"/>
          </a:solidFill>
          <a:ln w="19050">
            <a:solidFill>
              <a:srgbClr val="1A3A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600" b="1">
                <a:solidFill>
                  <a:srgbClr val="1A3A5C"/>
                </a:solidFill>
              </a:rPr>
              <a:t>99,8 → 137,2</a:t>
            </a:r>
          </a:p>
          <a:p>
            <a:pPr algn="ctr"/>
            <a:r>
              <a:rPr sz="1000">
                <a:solidFill>
                  <a:srgbClr val="6C6C6C"/>
                </a:solidFill>
              </a:rPr>
              <a:t>Preisindex Jan'20 → Jun'25</a:t>
            </a:r>
          </a:p>
        </p:txBody>
      </p:sp>
      <p:sp>
        <p:nvSpPr>
          <p:cNvPr id="7" name="Rectangle 6"/>
          <p:cNvSpPr/>
          <p:nvPr/>
        </p:nvSpPr>
        <p:spPr>
          <a:xfrm>
            <a:off x="5303520" y="1188720"/>
            <a:ext cx="2286000" cy="1188720"/>
          </a:xfrm>
          <a:prstGeom prst="rect">
            <a:avLst/>
          </a:prstGeom>
          <a:solidFill>
            <a:srgbClr val="FFFFFF"/>
          </a:solidFill>
          <a:ln w="19050">
            <a:solidFill>
              <a:srgbClr val="1A3A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600" b="1">
                <a:solidFill>
                  <a:srgbClr val="27AE60"/>
                </a:solidFill>
              </a:rPr>
              <a:t>+0,49 %</a:t>
            </a:r>
          </a:p>
          <a:p>
            <a:pPr algn="ctr"/>
            <a:r>
              <a:rPr sz="1000">
                <a:solidFill>
                  <a:srgbClr val="6C6C6C"/>
                </a:solidFill>
              </a:rPr>
              <a:t>Mittl. MoM-Änderung</a:t>
            </a:r>
          </a:p>
        </p:txBody>
      </p:sp>
      <p:sp>
        <p:nvSpPr>
          <p:cNvPr id="8" name="Rectangle 7"/>
          <p:cNvSpPr/>
          <p:nvPr/>
        </p:nvSpPr>
        <p:spPr>
          <a:xfrm>
            <a:off x="7772400" y="1188720"/>
            <a:ext cx="2286000" cy="1188720"/>
          </a:xfrm>
          <a:prstGeom prst="rect">
            <a:avLst/>
          </a:prstGeom>
          <a:solidFill>
            <a:srgbClr val="FFFFFF"/>
          </a:solidFill>
          <a:ln w="19050">
            <a:solidFill>
              <a:srgbClr val="1A3A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600" b="1">
                <a:solidFill>
                  <a:srgbClr val="1A3A5C"/>
                </a:solidFill>
              </a:rPr>
              <a:t>0,30 %</a:t>
            </a:r>
          </a:p>
          <a:p>
            <a:pPr algn="ctr"/>
            <a:r>
              <a:rPr sz="1000">
                <a:solidFill>
                  <a:srgbClr val="6C6C6C"/>
                </a:solidFill>
              </a:rPr>
              <a:t>Median MoM-Änderung</a:t>
            </a:r>
          </a:p>
        </p:txBody>
      </p:sp>
      <p:sp>
        <p:nvSpPr>
          <p:cNvPr id="9" name="Rectangle 8"/>
          <p:cNvSpPr/>
          <p:nvPr/>
        </p:nvSpPr>
        <p:spPr>
          <a:xfrm>
            <a:off x="10241280" y="1188720"/>
            <a:ext cx="1645920" cy="1188720"/>
          </a:xfrm>
          <a:prstGeom prst="rect">
            <a:avLst/>
          </a:prstGeom>
          <a:solidFill>
            <a:srgbClr val="FFFFFF"/>
          </a:solidFill>
          <a:ln w="19050">
            <a:solidFill>
              <a:srgbClr val="1A3A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600" b="1">
                <a:solidFill>
                  <a:srgbClr val="6C6C6C"/>
                </a:solidFill>
              </a:rPr>
              <a:t>10.710</a:t>
            </a:r>
          </a:p>
          <a:p>
            <a:pPr algn="ctr"/>
            <a:r>
              <a:rPr sz="1000">
                <a:solidFill>
                  <a:srgbClr val="6C6C6C"/>
                </a:solidFill>
              </a:rPr>
              <a:t>MoM-Beobachtungen</a:t>
            </a:r>
          </a:p>
        </p:txBody>
      </p:sp>
      <p:pic>
        <p:nvPicPr>
          <p:cNvPr id="10" name="Picture 9" descr="image.png"/>
          <p:cNvPicPr>
            <a:picLocks noChangeAspect="1"/>
          </p:cNvPicPr>
          <p:nvPr/>
        </p:nvPicPr>
        <p:blipFill>
          <a:blip r:embed="rId3"/>
          <a:stretch>
            <a:fillRect/>
          </a:stretch>
        </p:blipFill>
        <p:spPr>
          <a:xfrm>
            <a:off x="365760" y="2514600"/>
            <a:ext cx="8503920" cy="3657600"/>
          </a:xfrm>
          <a:prstGeom prst="rect">
            <a:avLst/>
          </a:prstGeom>
        </p:spPr>
      </p:pic>
      <p:sp>
        <p:nvSpPr>
          <p:cNvPr id="11" name="Rectangle 10"/>
          <p:cNvSpPr/>
          <p:nvPr/>
        </p:nvSpPr>
        <p:spPr>
          <a:xfrm>
            <a:off x="8961120" y="2514600"/>
            <a:ext cx="2834640" cy="2743200"/>
          </a:xfrm>
          <a:prstGeom prst="rect">
            <a:avLst/>
          </a:prstGeom>
          <a:solidFill>
            <a:srgbClr val="F0F4F8"/>
          </a:solidFill>
          <a:ln w="12700">
            <a:solidFill>
              <a:srgbClr val="1A3A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400" b="1">
                <a:solidFill>
                  <a:srgbClr val="1A3A5C"/>
                </a:solidFill>
              </a:rPr>
              <a:t>Kernbeobachtungen</a:t>
            </a:r>
          </a:p>
          <a:p>
            <a:pPr algn="l">
              <a:spcBef>
                <a:spcPts val="300"/>
              </a:spcBef>
            </a:pPr>
            <a:r>
              <a:rPr sz="1100">
                <a:solidFill>
                  <a:srgbClr val="2D2D2D"/>
                </a:solidFill>
              </a:rPr>
              <a:t>  • Stetiger Anstieg ab Mitte 2021</a:t>
            </a:r>
          </a:p>
          <a:p>
            <a:pPr algn="l">
              <a:spcBef>
                <a:spcPts val="300"/>
              </a:spcBef>
            </a:pPr>
            <a:r>
              <a:rPr sz="1100">
                <a:solidFill>
                  <a:srgbClr val="2D2D2D"/>
                </a:solidFill>
              </a:rPr>
              <a:t>  • Plateau ab Anfang 2023</a:t>
            </a:r>
          </a:p>
          <a:p>
            <a:pPr algn="l">
              <a:spcBef>
                <a:spcPts val="300"/>
              </a:spcBef>
            </a:pPr>
            <a:r>
              <a:rPr sz="1100">
                <a:solidFill>
                  <a:srgbClr val="2D2D2D"/>
                </a:solidFill>
              </a:rPr>
              <a:t>  • Hohe Streuung = ungleiche Preisentwicklung</a:t>
            </a:r>
          </a:p>
          <a:p>
            <a:pPr algn="l">
              <a:spcBef>
                <a:spcPts val="300"/>
              </a:spcBef>
            </a:pPr>
            <a:r>
              <a:rPr sz="1100">
                <a:solidFill>
                  <a:srgbClr val="2D2D2D"/>
                </a:solidFill>
              </a:rPr>
              <a:t>  • Basis 2020 = 100 überschritten</a:t>
            </a:r>
          </a:p>
          <a:p>
            <a:pPr algn="l">
              <a:spcBef>
                <a:spcPts val="300"/>
              </a:spcBef>
            </a:pPr>
            <a:r>
              <a:rPr sz="1100">
                <a:solidFill>
                  <a:srgbClr val="2D2D2D"/>
                </a:solidFill>
              </a:rPr>
              <a:t>  • Median &lt; Mean → rechtsschief</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l"/>
            <a:r>
              <a:rPr sz="2800" b="1">
                <a:solidFill>
                  <a:srgbClr val="FFFFFF"/>
                </a:solidFill>
              </a:rPr>
              <a:t>Deskriptive Statistik – Top-Produkte nach Preisanstieg</a:t>
            </a:r>
          </a:p>
        </p:txBody>
      </p:sp>
      <p:sp>
        <p:nvSpPr>
          <p:cNvPr id="3" name="Rectangle 2"/>
          <p:cNvSpPr/>
          <p:nvPr/>
        </p:nvSpPr>
        <p:spPr>
          <a:xfrm>
            <a:off x="0" y="1005840"/>
            <a:ext cx="12188952" cy="36576"/>
          </a:xfrm>
          <a:prstGeom prst="rect">
            <a:avLst/>
          </a:prstGeom>
          <a:solidFill>
            <a:srgbClr val="E84E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492240"/>
            <a:ext cx="12188952" cy="365760"/>
          </a:xfrm>
          <a:prstGeom prst="rect">
            <a:avLst/>
          </a:prstGeom>
          <a:solidFill>
            <a:srgbClr val="0D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0">
                <a:solidFill>
                  <a:srgbClr val="80A0C0"/>
                </a:solidFill>
              </a:rPr>
              <a:t>Lebensmittelpreise &amp; Inflation in Deutschland · Stochastik-Projekt 2025</a:t>
            </a:r>
          </a:p>
        </p:txBody>
      </p:sp>
      <p:pic>
        <p:nvPicPr>
          <p:cNvPr id="5" name="Picture 4" descr="image.png"/>
          <p:cNvPicPr>
            <a:picLocks noChangeAspect="1"/>
          </p:cNvPicPr>
          <p:nvPr/>
        </p:nvPicPr>
        <p:blipFill>
          <a:blip r:embed="rId3"/>
          <a:stretch>
            <a:fillRect/>
          </a:stretch>
        </p:blipFill>
        <p:spPr>
          <a:xfrm>
            <a:off x="365760" y="1143000"/>
            <a:ext cx="7955279" cy="5394960"/>
          </a:xfrm>
          <a:prstGeom prst="rect">
            <a:avLst/>
          </a:prstGeom>
        </p:spPr>
      </p:pic>
      <p:sp>
        <p:nvSpPr>
          <p:cNvPr id="6" name="Rectangle 5"/>
          <p:cNvSpPr/>
          <p:nvPr/>
        </p:nvSpPr>
        <p:spPr>
          <a:xfrm>
            <a:off x="8503920" y="1143000"/>
            <a:ext cx="3337560" cy="2926080"/>
          </a:xfrm>
          <a:prstGeom prst="rect">
            <a:avLst/>
          </a:prstGeom>
          <a:solidFill>
            <a:srgbClr val="F0F4F8"/>
          </a:solidFill>
          <a:ln w="12700">
            <a:solidFill>
              <a:srgbClr val="1A3A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400" b="1">
                <a:solidFill>
                  <a:srgbClr val="1A3A5C"/>
                </a:solidFill>
              </a:rPr>
              <a:t>Erkenntnisse</a:t>
            </a:r>
          </a:p>
          <a:p>
            <a:pPr algn="l">
              <a:spcBef>
                <a:spcPts val="300"/>
              </a:spcBef>
            </a:pPr>
            <a:r>
              <a:rPr sz="1100">
                <a:solidFill>
                  <a:srgbClr val="2D2D2D"/>
                </a:solidFill>
              </a:rPr>
              <a:t>  • Getränke (Säfte, Mineralwasser) führen</a:t>
            </a:r>
          </a:p>
          <a:p>
            <a:pPr algn="l">
              <a:spcBef>
                <a:spcPts val="300"/>
              </a:spcBef>
            </a:pPr>
            <a:r>
              <a:rPr sz="1100">
                <a:solidFill>
                  <a:srgbClr val="2D2D2D"/>
                </a:solidFill>
              </a:rPr>
              <a:t>  • Getränkepreise +60–67 % in 5 Jahren</a:t>
            </a:r>
          </a:p>
          <a:p>
            <a:pPr algn="l">
              <a:spcBef>
                <a:spcPts val="300"/>
              </a:spcBef>
            </a:pPr>
            <a:r>
              <a:rPr sz="1100">
                <a:solidFill>
                  <a:srgbClr val="2D2D2D"/>
                </a:solidFill>
              </a:rPr>
              <a:t>  • Stärkster Anstieg: Gemüsesaft +66,5 %</a:t>
            </a:r>
          </a:p>
          <a:p>
            <a:pPr algn="l">
              <a:spcBef>
                <a:spcPts val="300"/>
              </a:spcBef>
            </a:pPr>
            <a:r>
              <a:rPr sz="1100">
                <a:solidFill>
                  <a:srgbClr val="2D2D2D"/>
                </a:solidFill>
              </a:rPr>
              <a:t>  • Energie-Drinks trotz Volatilität +60 %</a:t>
            </a:r>
          </a:p>
          <a:p>
            <a:pPr algn="l">
              <a:spcBef>
                <a:spcPts val="300"/>
              </a:spcBef>
            </a:pPr>
            <a:r>
              <a:rPr sz="1100">
                <a:solidFill>
                  <a:srgbClr val="2D2D2D"/>
                </a:solidFill>
              </a:rPr>
              <a:t>  • Kaffee &amp; Tee ebenfalls stark betroffen</a:t>
            </a:r>
          </a:p>
        </p:txBody>
      </p:sp>
      <p:sp>
        <p:nvSpPr>
          <p:cNvPr id="7" name="Rectangle 6"/>
          <p:cNvSpPr/>
          <p:nvPr/>
        </p:nvSpPr>
        <p:spPr>
          <a:xfrm>
            <a:off x="8503920" y="4251960"/>
            <a:ext cx="3337560" cy="2286000"/>
          </a:xfrm>
          <a:prstGeom prst="rect">
            <a:avLst/>
          </a:prstGeom>
          <a:solidFill>
            <a:srgbClr val="FFF5EC"/>
          </a:solidFill>
          <a:ln w="12700">
            <a:solidFill>
              <a:srgbClr val="E84E1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400" b="1">
                <a:solidFill>
                  <a:srgbClr val="1A3A5C"/>
                </a:solidFill>
              </a:rPr>
              <a:t>Deskriptive Kennzahlen</a:t>
            </a:r>
          </a:p>
          <a:p>
            <a:pPr algn="l">
              <a:spcBef>
                <a:spcPts val="300"/>
              </a:spcBef>
            </a:pPr>
            <a:r>
              <a:rPr sz="1100">
                <a:solidFill>
                  <a:srgbClr val="2D2D2D"/>
                </a:solidFill>
              </a:rPr>
              <a:t>  • Ø Preisindex aller Produkte: 118,1</a:t>
            </a:r>
          </a:p>
          <a:p>
            <a:pPr algn="l">
              <a:spcBef>
                <a:spcPts val="300"/>
              </a:spcBef>
            </a:pPr>
            <a:r>
              <a:rPr sz="1100">
                <a:solidFill>
                  <a:srgbClr val="2D2D2D"/>
                </a:solidFill>
              </a:rPr>
              <a:t>  • Max. Ø: Sonnenblumenöl (148,8)</a:t>
            </a:r>
          </a:p>
          <a:p>
            <a:pPr algn="l">
              <a:spcBef>
                <a:spcPts val="300"/>
              </a:spcBef>
            </a:pPr>
            <a:r>
              <a:rPr sz="1100">
                <a:solidFill>
                  <a:srgbClr val="2D2D2D"/>
                </a:solidFill>
              </a:rPr>
              <a:t>  • Min. Ø: Süße Mandeln (102,8)</a:t>
            </a:r>
          </a:p>
          <a:p>
            <a:pPr algn="l">
              <a:spcBef>
                <a:spcPts val="300"/>
              </a:spcBef>
            </a:pPr>
            <a:r>
              <a:rPr sz="1100">
                <a:solidFill>
                  <a:srgbClr val="2D2D2D"/>
                </a:solidFill>
              </a:rPr>
              <a:t>  • Breiteste Streuung: Öle &amp; Fette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l"/>
            <a:r>
              <a:rPr sz="2800" b="1">
                <a:solidFill>
                  <a:srgbClr val="FFFFFF"/>
                </a:solidFill>
              </a:rPr>
              <a:t>Deskriptive Statistik – Monatliche Preisänderungen (MoM)</a:t>
            </a:r>
          </a:p>
        </p:txBody>
      </p:sp>
      <p:sp>
        <p:nvSpPr>
          <p:cNvPr id="3" name="Rectangle 2"/>
          <p:cNvSpPr/>
          <p:nvPr/>
        </p:nvSpPr>
        <p:spPr>
          <a:xfrm>
            <a:off x="0" y="1005840"/>
            <a:ext cx="12188952" cy="36576"/>
          </a:xfrm>
          <a:prstGeom prst="rect">
            <a:avLst/>
          </a:prstGeom>
          <a:solidFill>
            <a:srgbClr val="E84E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492240"/>
            <a:ext cx="12188952" cy="365760"/>
          </a:xfrm>
          <a:prstGeom prst="rect">
            <a:avLst/>
          </a:prstGeom>
          <a:solidFill>
            <a:srgbClr val="0D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0">
                <a:solidFill>
                  <a:srgbClr val="80A0C0"/>
                </a:solidFill>
              </a:rPr>
              <a:t>Lebensmittelpreise &amp; Inflation in Deutschland · Stochastik-Projekt 2025</a:t>
            </a:r>
          </a:p>
        </p:txBody>
      </p:sp>
      <p:pic>
        <p:nvPicPr>
          <p:cNvPr id="5" name="Picture 4" descr="image.png"/>
          <p:cNvPicPr>
            <a:picLocks noChangeAspect="1"/>
          </p:cNvPicPr>
          <p:nvPr/>
        </p:nvPicPr>
        <p:blipFill>
          <a:blip r:embed="rId3"/>
          <a:stretch>
            <a:fillRect/>
          </a:stretch>
        </p:blipFill>
        <p:spPr>
          <a:xfrm>
            <a:off x="365760" y="1143000"/>
            <a:ext cx="10241280" cy="4389120"/>
          </a:xfrm>
          <a:prstGeom prst="rect">
            <a:avLst/>
          </a:prstGeom>
        </p:spPr>
      </p:pic>
      <p:sp>
        <p:nvSpPr>
          <p:cNvPr id="6" name="Rectangle 5"/>
          <p:cNvSpPr/>
          <p:nvPr/>
        </p:nvSpPr>
        <p:spPr>
          <a:xfrm>
            <a:off x="365760" y="5669280"/>
            <a:ext cx="1828800" cy="548640"/>
          </a:xfrm>
          <a:prstGeom prst="rect">
            <a:avLst/>
          </a:prstGeom>
          <a:solidFill>
            <a:srgbClr val="F0F4F8"/>
          </a:solidFill>
          <a:ln w="12700">
            <a:solidFill>
              <a:srgbClr val="1A3A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1A3A5C"/>
                </a:solidFill>
              </a:rPr>
              <a:t>Mittelwert: 0.338%</a:t>
            </a:r>
          </a:p>
        </p:txBody>
      </p:sp>
      <p:sp>
        <p:nvSpPr>
          <p:cNvPr id="7" name="Rectangle 6"/>
          <p:cNvSpPr/>
          <p:nvPr/>
        </p:nvSpPr>
        <p:spPr>
          <a:xfrm>
            <a:off x="2240279" y="5669280"/>
            <a:ext cx="1828800" cy="548640"/>
          </a:xfrm>
          <a:prstGeom prst="rect">
            <a:avLst/>
          </a:prstGeom>
          <a:solidFill>
            <a:srgbClr val="F0F4F8"/>
          </a:solidFill>
          <a:ln w="12700">
            <a:solidFill>
              <a:srgbClr val="1A3A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1A3A5C"/>
                </a:solidFill>
              </a:rPr>
              <a:t>Median: 0.295%</a:t>
            </a:r>
          </a:p>
        </p:txBody>
      </p:sp>
      <p:sp>
        <p:nvSpPr>
          <p:cNvPr id="8" name="Rectangle 7"/>
          <p:cNvSpPr/>
          <p:nvPr/>
        </p:nvSpPr>
        <p:spPr>
          <a:xfrm>
            <a:off x="4114800" y="5669280"/>
            <a:ext cx="1828800" cy="548640"/>
          </a:xfrm>
          <a:prstGeom prst="rect">
            <a:avLst/>
          </a:prstGeom>
          <a:solidFill>
            <a:srgbClr val="F0F4F8"/>
          </a:solidFill>
          <a:ln w="12700">
            <a:solidFill>
              <a:srgbClr val="1A3A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1A3A5C"/>
                </a:solidFill>
              </a:rPr>
              <a:t>Std.-Abw.: 2.706%</a:t>
            </a:r>
          </a:p>
        </p:txBody>
      </p:sp>
      <p:sp>
        <p:nvSpPr>
          <p:cNvPr id="9" name="Rectangle 8"/>
          <p:cNvSpPr/>
          <p:nvPr/>
        </p:nvSpPr>
        <p:spPr>
          <a:xfrm>
            <a:off x="5989320" y="5669280"/>
            <a:ext cx="1828800" cy="548640"/>
          </a:xfrm>
          <a:prstGeom prst="rect">
            <a:avLst/>
          </a:prstGeom>
          <a:solidFill>
            <a:srgbClr val="F0F4F8"/>
          </a:solidFill>
          <a:ln w="12700">
            <a:solidFill>
              <a:srgbClr val="1A3A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1A3A5C"/>
                </a:solidFill>
              </a:rPr>
              <a:t>Min (1%): -24.33%</a:t>
            </a:r>
          </a:p>
        </p:txBody>
      </p:sp>
      <p:sp>
        <p:nvSpPr>
          <p:cNvPr id="10" name="Rectangle 9"/>
          <p:cNvSpPr/>
          <p:nvPr/>
        </p:nvSpPr>
        <p:spPr>
          <a:xfrm>
            <a:off x="7863840" y="5669280"/>
            <a:ext cx="1828800" cy="548640"/>
          </a:xfrm>
          <a:prstGeom prst="rect">
            <a:avLst/>
          </a:prstGeom>
          <a:solidFill>
            <a:srgbClr val="F0F4F8"/>
          </a:solidFill>
          <a:ln w="12700">
            <a:solidFill>
              <a:srgbClr val="1A3A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1A3A5C"/>
                </a:solidFill>
              </a:rPr>
              <a:t>Max (99%): 13.76%</a:t>
            </a:r>
          </a:p>
        </p:txBody>
      </p:sp>
      <p:sp>
        <p:nvSpPr>
          <p:cNvPr id="11" name="Rectangle 10"/>
          <p:cNvSpPr/>
          <p:nvPr/>
        </p:nvSpPr>
        <p:spPr>
          <a:xfrm>
            <a:off x="9738359" y="5669280"/>
            <a:ext cx="1828800" cy="548640"/>
          </a:xfrm>
          <a:prstGeom prst="rect">
            <a:avLst/>
          </a:prstGeom>
          <a:solidFill>
            <a:srgbClr val="F0F4F8"/>
          </a:solidFill>
          <a:ln w="12700">
            <a:solidFill>
              <a:srgbClr val="1A3A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1A3A5C"/>
                </a:solidFill>
              </a:rPr>
              <a:t>N: 10.494</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l"/>
            <a:r>
              <a:rPr sz="2800" b="1">
                <a:solidFill>
                  <a:srgbClr val="FFFFFF"/>
                </a:solidFill>
              </a:rPr>
              <a:t>Deskriptive Statistik – Boxplot Top-20 Produkte (MoM-Streuung)</a:t>
            </a:r>
          </a:p>
        </p:txBody>
      </p:sp>
      <p:sp>
        <p:nvSpPr>
          <p:cNvPr id="3" name="Rectangle 2"/>
          <p:cNvSpPr/>
          <p:nvPr/>
        </p:nvSpPr>
        <p:spPr>
          <a:xfrm>
            <a:off x="0" y="1005840"/>
            <a:ext cx="12188952" cy="36576"/>
          </a:xfrm>
          <a:prstGeom prst="rect">
            <a:avLst/>
          </a:prstGeom>
          <a:solidFill>
            <a:srgbClr val="E84E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492240"/>
            <a:ext cx="12188952" cy="365760"/>
          </a:xfrm>
          <a:prstGeom prst="rect">
            <a:avLst/>
          </a:prstGeom>
          <a:solidFill>
            <a:srgbClr val="0D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0">
                <a:solidFill>
                  <a:srgbClr val="80A0C0"/>
                </a:solidFill>
              </a:rPr>
              <a:t>Lebensmittelpreise &amp; Inflation in Deutschland · Stochastik-Projekt 2025</a:t>
            </a:r>
          </a:p>
        </p:txBody>
      </p:sp>
      <p:pic>
        <p:nvPicPr>
          <p:cNvPr id="5" name="Picture 4" descr="boxplot_top20_mom.png"/>
          <p:cNvPicPr>
            <a:picLocks noChangeAspect="1"/>
          </p:cNvPicPr>
          <p:nvPr/>
        </p:nvPicPr>
        <p:blipFill>
          <a:blip r:embed="rId3"/>
          <a:stretch>
            <a:fillRect/>
          </a:stretch>
        </p:blipFill>
        <p:spPr>
          <a:xfrm>
            <a:off x="274320" y="1143000"/>
            <a:ext cx="8412480" cy="5303520"/>
          </a:xfrm>
          <a:prstGeom prst="rect">
            <a:avLst/>
          </a:prstGeom>
        </p:spPr>
      </p:pic>
      <p:sp>
        <p:nvSpPr>
          <p:cNvPr id="6" name="Rectangle 5"/>
          <p:cNvSpPr/>
          <p:nvPr/>
        </p:nvSpPr>
        <p:spPr>
          <a:xfrm>
            <a:off x="8869680" y="1143000"/>
            <a:ext cx="3017520" cy="3657600"/>
          </a:xfrm>
          <a:prstGeom prst="rect">
            <a:avLst/>
          </a:prstGeom>
          <a:solidFill>
            <a:srgbClr val="F0F4F8"/>
          </a:solidFill>
          <a:ln w="12700">
            <a:solidFill>
              <a:srgbClr val="1A3A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400" b="1">
                <a:solidFill>
                  <a:srgbClr val="1A3A5C"/>
                </a:solidFill>
              </a:rPr>
              <a:t>Interpretation</a:t>
            </a:r>
          </a:p>
          <a:p>
            <a:pPr algn="l">
              <a:spcBef>
                <a:spcPts val="300"/>
              </a:spcBef>
            </a:pPr>
            <a:r>
              <a:rPr sz="1100">
                <a:solidFill>
                  <a:srgbClr val="2D2D2D"/>
                </a:solidFill>
              </a:rPr>
              <a:t>  • Hohe Streuung = hohe Preisvolatilität</a:t>
            </a:r>
          </a:p>
          <a:p>
            <a:pPr algn="l">
              <a:spcBef>
                <a:spcPts val="300"/>
              </a:spcBef>
            </a:pPr>
            <a:r>
              <a:rPr sz="1100">
                <a:solidFill>
                  <a:srgbClr val="2D2D2D"/>
                </a:solidFill>
              </a:rPr>
              <a:t>  • Energie-Drinks: extremste Ausreißer</a:t>
            </a:r>
          </a:p>
          <a:p>
            <a:pPr algn="l">
              <a:spcBef>
                <a:spcPts val="300"/>
              </a:spcBef>
            </a:pPr>
            <a:r>
              <a:rPr sz="1100">
                <a:solidFill>
                  <a:srgbClr val="2D2D2D"/>
                </a:solidFill>
              </a:rPr>
              <a:t>  • Gemüsesaft: höchster Median-MoM</a:t>
            </a:r>
          </a:p>
          <a:p>
            <a:pPr algn="l">
              <a:spcBef>
                <a:spcPts val="300"/>
              </a:spcBef>
            </a:pPr>
            <a:r>
              <a:rPr sz="1100">
                <a:solidFill>
                  <a:srgbClr val="2D2D2D"/>
                </a:solidFill>
              </a:rPr>
              <a:t>  • Orangensaft: gleichmäßigster Anstieg</a:t>
            </a:r>
          </a:p>
          <a:p>
            <a:pPr algn="l">
              <a:spcBef>
                <a:spcPts val="300"/>
              </a:spcBef>
            </a:pPr>
            <a:r>
              <a:rPr sz="1100">
                <a:solidFill>
                  <a:srgbClr val="2D2D2D"/>
                </a:solidFill>
              </a:rPr>
              <a:t>  • Ausreißer nach oben dominieren</a:t>
            </a:r>
          </a:p>
          <a:p>
            <a:pPr algn="l">
              <a:spcBef>
                <a:spcPts val="300"/>
              </a:spcBef>
            </a:pPr>
            <a:r>
              <a:rPr sz="1100">
                <a:solidFill>
                  <a:srgbClr val="2D2D2D"/>
                </a:solidFill>
              </a:rPr>
              <a:t>  • Schiefe Verteilung bei fast allen Produkten</a:t>
            </a:r>
          </a:p>
          <a:p>
            <a:pPr algn="l">
              <a:spcBef>
                <a:spcPts val="300"/>
              </a:spcBef>
            </a:pPr>
            <a:r>
              <a:rPr sz="1100">
                <a:solidFill>
                  <a:srgbClr val="2D2D2D"/>
                </a:solidFill>
              </a:rPr>
              <a:t>  • Energiereiche Produkte schwanken stärker</a:t>
            </a:r>
          </a:p>
        </p:txBody>
      </p:sp>
      <p:sp>
        <p:nvSpPr>
          <p:cNvPr id="7" name="TextBox 6"/>
          <p:cNvSpPr txBox="1"/>
          <p:nvPr/>
        </p:nvSpPr>
        <p:spPr>
          <a:xfrm>
            <a:off x="8869680" y="4937760"/>
            <a:ext cx="3017520" cy="731520"/>
          </a:xfrm>
          <a:prstGeom prst="rect">
            <a:avLst/>
          </a:prstGeom>
          <a:noFill/>
        </p:spPr>
        <p:txBody>
          <a:bodyPr wrap="square">
            <a:spAutoFit/>
          </a:bodyPr>
          <a:lstStyle/>
          <a:p>
            <a:pPr algn="l"/>
            <a:r>
              <a:rPr sz="900" b="0">
                <a:solidFill>
                  <a:srgbClr val="6C6C6C"/>
                </a:solidFill>
              </a:rPr>
              <a:t>Ausreißer: einzelne Monate mit extremen Preissprüngen (Energie, Lieferkettenprobleme)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l"/>
            <a:r>
              <a:rPr sz="2800" b="1">
                <a:solidFill>
                  <a:srgbClr val="FFFFFF"/>
                </a:solidFill>
              </a:rPr>
              <a:t>Inferenzstatistik – ANOVA: Unterschiede zwischen Produktgruppen</a:t>
            </a:r>
          </a:p>
        </p:txBody>
      </p:sp>
      <p:sp>
        <p:nvSpPr>
          <p:cNvPr id="3" name="Rectangle 2"/>
          <p:cNvSpPr/>
          <p:nvPr/>
        </p:nvSpPr>
        <p:spPr>
          <a:xfrm>
            <a:off x="0" y="1005840"/>
            <a:ext cx="12188952" cy="36576"/>
          </a:xfrm>
          <a:prstGeom prst="rect">
            <a:avLst/>
          </a:prstGeom>
          <a:solidFill>
            <a:srgbClr val="E84E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492240"/>
            <a:ext cx="12188952" cy="365760"/>
          </a:xfrm>
          <a:prstGeom prst="rect">
            <a:avLst/>
          </a:prstGeom>
          <a:solidFill>
            <a:srgbClr val="0D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0">
                <a:solidFill>
                  <a:srgbClr val="80A0C0"/>
                </a:solidFill>
              </a:rPr>
              <a:t>Lebensmittelpreise &amp; Inflation in Deutschland · Stochastik-Projekt 2025</a:t>
            </a:r>
          </a:p>
        </p:txBody>
      </p:sp>
      <p:sp>
        <p:nvSpPr>
          <p:cNvPr id="5" name="Rectangle 4"/>
          <p:cNvSpPr/>
          <p:nvPr/>
        </p:nvSpPr>
        <p:spPr>
          <a:xfrm>
            <a:off x="365760" y="1143000"/>
            <a:ext cx="5486400" cy="1463040"/>
          </a:xfrm>
          <a:prstGeom prst="rect">
            <a:avLst/>
          </a:prstGeom>
          <a:solidFill>
            <a:srgbClr val="F0F4F8"/>
          </a:solidFill>
          <a:ln w="12700">
            <a:solidFill>
              <a:srgbClr val="1A3A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400" b="1">
                <a:solidFill>
                  <a:srgbClr val="1A3A5C"/>
                </a:solidFill>
              </a:rPr>
              <a:t>Hypothesen</a:t>
            </a:r>
          </a:p>
          <a:p>
            <a:pPr algn="l">
              <a:spcBef>
                <a:spcPts val="300"/>
              </a:spcBef>
            </a:pPr>
            <a:r>
              <a:rPr sz="1300">
                <a:solidFill>
                  <a:srgbClr val="2D2D2D"/>
                </a:solidFill>
              </a:rPr>
              <a:t>  • H₀: Mittlere MoM-Änderung ist über alle Produkte gleich</a:t>
            </a:r>
          </a:p>
          <a:p>
            <a:pPr algn="l">
              <a:spcBef>
                <a:spcPts val="300"/>
              </a:spcBef>
            </a:pPr>
            <a:r>
              <a:rPr sz="1300">
                <a:solidFill>
                  <a:srgbClr val="2D2D2D"/>
                </a:solidFill>
              </a:rPr>
              <a:t>  • H₁: Mindestens eine Produktgruppe hat einen anderen Mittelwert</a:t>
            </a:r>
          </a:p>
        </p:txBody>
      </p:sp>
      <p:sp>
        <p:nvSpPr>
          <p:cNvPr id="6" name="Rectangle 5"/>
          <p:cNvSpPr/>
          <p:nvPr/>
        </p:nvSpPr>
        <p:spPr>
          <a:xfrm>
            <a:off x="365760" y="2743200"/>
            <a:ext cx="2011680" cy="1280160"/>
          </a:xfrm>
          <a:prstGeom prst="rect">
            <a:avLst/>
          </a:prstGeom>
          <a:solidFill>
            <a:srgbClr val="FFFFFF"/>
          </a:solidFill>
          <a:ln w="19050">
            <a:solidFill>
              <a:srgbClr val="1A3A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600" b="1">
                <a:solidFill>
                  <a:srgbClr val="1A3A5C"/>
                </a:solidFill>
              </a:rPr>
              <a:t>F = 0.408</a:t>
            </a:r>
          </a:p>
          <a:p>
            <a:pPr algn="ctr"/>
            <a:r>
              <a:rPr sz="1000">
                <a:solidFill>
                  <a:srgbClr val="6C6C6C"/>
                </a:solidFill>
              </a:rPr>
              <a:t>F-Statistik</a:t>
            </a:r>
          </a:p>
        </p:txBody>
      </p:sp>
      <p:sp>
        <p:nvSpPr>
          <p:cNvPr id="7" name="Rectangle 6"/>
          <p:cNvSpPr/>
          <p:nvPr/>
        </p:nvSpPr>
        <p:spPr>
          <a:xfrm>
            <a:off x="2560320" y="2743200"/>
            <a:ext cx="2011680" cy="1280160"/>
          </a:xfrm>
          <a:prstGeom prst="rect">
            <a:avLst/>
          </a:prstGeom>
          <a:solidFill>
            <a:srgbClr val="FFFFFF"/>
          </a:solidFill>
          <a:ln w="19050">
            <a:solidFill>
              <a:srgbClr val="1A3A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600" b="1">
                <a:solidFill>
                  <a:srgbClr val="27AE60"/>
                </a:solidFill>
              </a:rPr>
              <a:t>p ≈ 1,000</a:t>
            </a:r>
          </a:p>
          <a:p>
            <a:pPr algn="ctr"/>
            <a:r>
              <a:rPr sz="1000">
                <a:solidFill>
                  <a:srgbClr val="6C6C6C"/>
                </a:solidFill>
              </a:rPr>
              <a:t>p-Wert</a:t>
            </a:r>
          </a:p>
        </p:txBody>
      </p:sp>
      <p:sp>
        <p:nvSpPr>
          <p:cNvPr id="8" name="Rectangle 7"/>
          <p:cNvSpPr/>
          <p:nvPr/>
        </p:nvSpPr>
        <p:spPr>
          <a:xfrm>
            <a:off x="4754880" y="2743200"/>
            <a:ext cx="2011680" cy="1280160"/>
          </a:xfrm>
          <a:prstGeom prst="rect">
            <a:avLst/>
          </a:prstGeom>
          <a:solidFill>
            <a:srgbClr val="FFFFFF"/>
          </a:solidFill>
          <a:ln w="19050">
            <a:solidFill>
              <a:srgbClr val="1A3A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600" b="1">
                <a:solidFill>
                  <a:srgbClr val="1A3A5C"/>
                </a:solidFill>
              </a:rPr>
              <a:t>df₁ = 167</a:t>
            </a:r>
          </a:p>
          <a:p>
            <a:pPr algn="ctr"/>
            <a:r>
              <a:rPr sz="1000">
                <a:solidFill>
                  <a:srgbClr val="6C6C6C"/>
                </a:solidFill>
              </a:rPr>
              <a:t>Zähler-df</a:t>
            </a:r>
          </a:p>
        </p:txBody>
      </p:sp>
      <p:sp>
        <p:nvSpPr>
          <p:cNvPr id="9" name="Rectangle 8"/>
          <p:cNvSpPr/>
          <p:nvPr/>
        </p:nvSpPr>
        <p:spPr>
          <a:xfrm>
            <a:off x="6949440" y="2743200"/>
            <a:ext cx="2011680" cy="1280160"/>
          </a:xfrm>
          <a:prstGeom prst="rect">
            <a:avLst/>
          </a:prstGeom>
          <a:solidFill>
            <a:srgbClr val="FFFFFF"/>
          </a:solidFill>
          <a:ln w="19050">
            <a:solidFill>
              <a:srgbClr val="1A3A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600" b="1">
                <a:solidFill>
                  <a:srgbClr val="1A3A5C"/>
                </a:solidFill>
              </a:rPr>
              <a:t>df₂ = 10710</a:t>
            </a:r>
          </a:p>
          <a:p>
            <a:pPr algn="ctr"/>
            <a:r>
              <a:rPr sz="1000">
                <a:solidFill>
                  <a:srgbClr val="6C6C6C"/>
                </a:solidFill>
              </a:rPr>
              <a:t>Nenner-df</a:t>
            </a:r>
          </a:p>
        </p:txBody>
      </p:sp>
      <p:sp>
        <p:nvSpPr>
          <p:cNvPr id="10" name="Rectangle 9"/>
          <p:cNvSpPr/>
          <p:nvPr/>
        </p:nvSpPr>
        <p:spPr>
          <a:xfrm>
            <a:off x="9144000" y="2743200"/>
            <a:ext cx="2651760" cy="1280160"/>
          </a:xfrm>
          <a:prstGeom prst="rect">
            <a:avLst/>
          </a:prstGeom>
          <a:solidFill>
            <a:srgbClr val="FFFFFF"/>
          </a:solidFill>
          <a:ln w="19050">
            <a:solidFill>
              <a:srgbClr val="1A3A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600" b="1">
                <a:solidFill>
                  <a:srgbClr val="6C6C6C"/>
                </a:solidFill>
              </a:rPr>
              <a:t>α = 0,05</a:t>
            </a:r>
          </a:p>
          <a:p>
            <a:pPr algn="ctr"/>
            <a:r>
              <a:rPr sz="1000">
                <a:solidFill>
                  <a:srgbClr val="6C6C6C"/>
                </a:solidFill>
              </a:rPr>
              <a:t>Signifikanzniveau</a:t>
            </a:r>
          </a:p>
        </p:txBody>
      </p:sp>
      <p:pic>
        <p:nvPicPr>
          <p:cNvPr id="11" name="Picture 10" descr="image.png"/>
          <p:cNvPicPr>
            <a:picLocks noChangeAspect="1"/>
          </p:cNvPicPr>
          <p:nvPr/>
        </p:nvPicPr>
        <p:blipFill>
          <a:blip r:embed="rId3"/>
          <a:stretch>
            <a:fillRect/>
          </a:stretch>
        </p:blipFill>
        <p:spPr>
          <a:xfrm>
            <a:off x="365760" y="4206240"/>
            <a:ext cx="8686800" cy="1920240"/>
          </a:xfrm>
          <a:prstGeom prst="rect">
            <a:avLst/>
          </a:prstGeom>
        </p:spPr>
      </p:pic>
      <p:sp>
        <p:nvSpPr>
          <p:cNvPr id="12" name="Rectangle 11"/>
          <p:cNvSpPr/>
          <p:nvPr/>
        </p:nvSpPr>
        <p:spPr>
          <a:xfrm>
            <a:off x="5943600" y="1143000"/>
            <a:ext cx="5943600" cy="1463040"/>
          </a:xfrm>
          <a:prstGeom prst="rect">
            <a:avLst/>
          </a:prstGeom>
          <a:solidFill>
            <a:srgbClr val="ECFFEC"/>
          </a:solidFill>
          <a:ln w="12700">
            <a:solidFill>
              <a:srgbClr val="27AE6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400" b="1">
                <a:solidFill>
                  <a:srgbClr val="1A3A5C"/>
                </a:solidFill>
              </a:rPr>
              <a:t>Ergebnis &amp; Interpretation</a:t>
            </a:r>
          </a:p>
          <a:p>
            <a:pPr algn="l">
              <a:spcBef>
                <a:spcPts val="300"/>
              </a:spcBef>
            </a:pPr>
            <a:r>
              <a:rPr sz="1200">
                <a:solidFill>
                  <a:srgbClr val="2D2D2D"/>
                </a:solidFill>
              </a:rPr>
              <a:t>  • Kein signifikanter Unterschied zwischen Produkten (p ≈ 1,00 &gt;&gt; 0,05)</a:t>
            </a:r>
          </a:p>
          <a:p>
            <a:pPr algn="l">
              <a:spcBef>
                <a:spcPts val="300"/>
              </a:spcBef>
            </a:pPr>
            <a:r>
              <a:rPr sz="1200">
                <a:solidFill>
                  <a:srgbClr val="2D2D2D"/>
                </a:solidFill>
              </a:rPr>
              <a:t>  • H₀ wird NICHT abgelehnt: Alle Produkte steigen ähnlich stark</a:t>
            </a:r>
          </a:p>
          <a:p>
            <a:pPr algn="l">
              <a:spcBef>
                <a:spcPts val="300"/>
              </a:spcBef>
            </a:pPr>
            <a:r>
              <a:rPr sz="1200">
                <a:solidFill>
                  <a:srgbClr val="2D2D2D"/>
                </a:solidFill>
              </a:rPr>
              <a:t>  • Hohe Residualvarianz dominiert das Modell</a:t>
            </a:r>
          </a:p>
        </p:txBody>
      </p:sp>
      <p:sp>
        <p:nvSpPr>
          <p:cNvPr id="13" name="TextBox 12"/>
          <p:cNvSpPr txBox="1"/>
          <p:nvPr/>
        </p:nvSpPr>
        <p:spPr>
          <a:xfrm>
            <a:off x="9235440" y="4206240"/>
            <a:ext cx="2560320" cy="1920240"/>
          </a:xfrm>
          <a:prstGeom prst="rect">
            <a:avLst/>
          </a:prstGeom>
          <a:solidFill>
            <a:srgbClr val="E8F4FF"/>
          </a:solidFill>
        </p:spPr>
        <p:txBody>
          <a:bodyPr wrap="square">
            <a:spAutoFit/>
          </a:bodyPr>
          <a:lstStyle/>
          <a:p>
            <a:pPr algn="l"/>
            <a:r>
              <a:rPr sz="1000" b="0">
                <a:solidFill>
                  <a:srgbClr val="1A3A5C"/>
                </a:solidFill>
              </a:rPr>
              <a:t>Fazit:
Die Inflation trifft alle Lebensmittelkategorien relativ gleichmäßig – keine Gruppe ist signifikant ausgenommen.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l"/>
            <a:r>
              <a:rPr sz="2800" b="1">
                <a:solidFill>
                  <a:srgbClr val="FFFFFF"/>
                </a:solidFill>
              </a:rPr>
              <a:t>Inferenzstatistik – t-Test: Inflationsphasen im Vergleich</a:t>
            </a:r>
          </a:p>
        </p:txBody>
      </p:sp>
      <p:sp>
        <p:nvSpPr>
          <p:cNvPr id="3" name="Rectangle 2"/>
          <p:cNvSpPr/>
          <p:nvPr/>
        </p:nvSpPr>
        <p:spPr>
          <a:xfrm>
            <a:off x="0" y="1005840"/>
            <a:ext cx="12188952" cy="36576"/>
          </a:xfrm>
          <a:prstGeom prst="rect">
            <a:avLst/>
          </a:prstGeom>
          <a:solidFill>
            <a:srgbClr val="E84E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492240"/>
            <a:ext cx="12188952" cy="365760"/>
          </a:xfrm>
          <a:prstGeom prst="rect">
            <a:avLst/>
          </a:prstGeom>
          <a:solidFill>
            <a:srgbClr val="0D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0">
                <a:solidFill>
                  <a:srgbClr val="80A0C0"/>
                </a:solidFill>
              </a:rPr>
              <a:t>Lebensmittelpreise &amp; Inflation in Deutschland · Stochastik-Projekt 2025</a:t>
            </a:r>
          </a:p>
        </p:txBody>
      </p:sp>
      <p:sp>
        <p:nvSpPr>
          <p:cNvPr id="5" name="Rectangle 4"/>
          <p:cNvSpPr/>
          <p:nvPr/>
        </p:nvSpPr>
        <p:spPr>
          <a:xfrm>
            <a:off x="365760" y="1143000"/>
            <a:ext cx="5303520" cy="1463040"/>
          </a:xfrm>
          <a:prstGeom prst="rect">
            <a:avLst/>
          </a:prstGeom>
          <a:solidFill>
            <a:srgbClr val="F0F4F8"/>
          </a:solidFill>
          <a:ln w="12700">
            <a:solidFill>
              <a:srgbClr val="1A3A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400" b="1">
                <a:solidFill>
                  <a:srgbClr val="1A3A5C"/>
                </a:solidFill>
              </a:rPr>
              <a:t>Hypothesen</a:t>
            </a:r>
          </a:p>
          <a:p>
            <a:pPr algn="l">
              <a:spcBef>
                <a:spcPts val="300"/>
              </a:spcBef>
            </a:pPr>
            <a:r>
              <a:rPr sz="1200">
                <a:solidFill>
                  <a:srgbClr val="2D2D2D"/>
                </a:solidFill>
              </a:rPr>
              <a:t>  • H₀: Mittlerer MoM Frühphase = Mittlerer MoM Spätphase</a:t>
            </a:r>
          </a:p>
          <a:p>
            <a:pPr algn="l">
              <a:spcBef>
                <a:spcPts val="300"/>
              </a:spcBef>
            </a:pPr>
            <a:r>
              <a:rPr sz="1200">
                <a:solidFill>
                  <a:srgbClr val="2D2D2D"/>
                </a:solidFill>
              </a:rPr>
              <a:t>  • H₁: Mittlerer MoM unterscheidet sich zwischen den Phasen</a:t>
            </a:r>
          </a:p>
          <a:p>
            <a:pPr algn="l">
              <a:spcBef>
                <a:spcPts val="300"/>
              </a:spcBef>
            </a:pPr>
            <a:r>
              <a:rPr sz="1200">
                <a:solidFill>
                  <a:srgbClr val="2D2D2D"/>
                </a:solidFill>
              </a:rPr>
              <a:t>  • Frühphase: Jan 2020 – Jun 2022 | Spätphase: Jul 2022 – Jun 2025</a:t>
            </a:r>
          </a:p>
        </p:txBody>
      </p:sp>
      <p:pic>
        <p:nvPicPr>
          <p:cNvPr id="6" name="Picture 5" descr="image.png"/>
          <p:cNvPicPr>
            <a:picLocks noChangeAspect="1"/>
          </p:cNvPicPr>
          <p:nvPr/>
        </p:nvPicPr>
        <p:blipFill>
          <a:blip r:embed="rId3"/>
          <a:stretch>
            <a:fillRect/>
          </a:stretch>
        </p:blipFill>
        <p:spPr>
          <a:xfrm>
            <a:off x="365760" y="2651760"/>
            <a:ext cx="8869680" cy="3657600"/>
          </a:xfrm>
          <a:prstGeom prst="rect">
            <a:avLst/>
          </a:prstGeom>
        </p:spPr>
      </p:pic>
      <p:sp>
        <p:nvSpPr>
          <p:cNvPr id="7" name="Rectangle 6"/>
          <p:cNvSpPr/>
          <p:nvPr/>
        </p:nvSpPr>
        <p:spPr>
          <a:xfrm>
            <a:off x="9326880" y="1143000"/>
            <a:ext cx="2468880" cy="1005840"/>
          </a:xfrm>
          <a:prstGeom prst="rect">
            <a:avLst/>
          </a:prstGeom>
          <a:solidFill>
            <a:srgbClr val="FFFFFF"/>
          </a:solidFill>
          <a:ln w="19050">
            <a:solidFill>
              <a:srgbClr val="1A3A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600" b="1">
                <a:solidFill>
                  <a:srgbClr val="1A3A5C"/>
                </a:solidFill>
              </a:rPr>
              <a:t>t = 5.05</a:t>
            </a:r>
          </a:p>
          <a:p>
            <a:pPr algn="ctr"/>
            <a:r>
              <a:rPr sz="1000">
                <a:solidFill>
                  <a:srgbClr val="6C6C6C"/>
                </a:solidFill>
              </a:rPr>
              <a:t>t-Statistik</a:t>
            </a:r>
          </a:p>
        </p:txBody>
      </p:sp>
      <p:sp>
        <p:nvSpPr>
          <p:cNvPr id="8" name="Rectangle 7"/>
          <p:cNvSpPr/>
          <p:nvPr/>
        </p:nvSpPr>
        <p:spPr>
          <a:xfrm>
            <a:off x="9326880" y="2240280"/>
            <a:ext cx="2468880" cy="1005840"/>
          </a:xfrm>
          <a:prstGeom prst="rect">
            <a:avLst/>
          </a:prstGeom>
          <a:solidFill>
            <a:srgbClr val="FFFFFF"/>
          </a:solidFill>
          <a:ln w="19050">
            <a:solidFill>
              <a:srgbClr val="1A3A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600" b="1">
                <a:solidFill>
                  <a:srgbClr val="E84E1B"/>
                </a:solidFill>
              </a:rPr>
              <a:t>p &lt; 0,001</a:t>
            </a:r>
          </a:p>
          <a:p>
            <a:pPr algn="ctr"/>
            <a:r>
              <a:rPr sz="1000">
                <a:solidFill>
                  <a:srgbClr val="6C6C6C"/>
                </a:solidFill>
              </a:rPr>
              <a:t>p-Wert (hochsign.)</a:t>
            </a:r>
          </a:p>
        </p:txBody>
      </p:sp>
      <p:sp>
        <p:nvSpPr>
          <p:cNvPr id="9" name="Rectangle 8"/>
          <p:cNvSpPr/>
          <p:nvPr/>
        </p:nvSpPr>
        <p:spPr>
          <a:xfrm>
            <a:off x="9326880" y="3337560"/>
            <a:ext cx="2468880" cy="1005840"/>
          </a:xfrm>
          <a:prstGeom prst="rect">
            <a:avLst/>
          </a:prstGeom>
          <a:solidFill>
            <a:srgbClr val="FFFFFF"/>
          </a:solidFill>
          <a:ln w="19050">
            <a:solidFill>
              <a:srgbClr val="1A3A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600" b="1">
                <a:solidFill>
                  <a:srgbClr val="E84E1B"/>
                </a:solidFill>
              </a:rPr>
              <a:t>0.684%</a:t>
            </a:r>
          </a:p>
          <a:p>
            <a:pPr algn="ctr"/>
            <a:r>
              <a:rPr sz="1000">
                <a:solidFill>
                  <a:srgbClr val="6C6C6C"/>
                </a:solidFill>
              </a:rPr>
              <a:t>Ø MoM Frühphase</a:t>
            </a:r>
          </a:p>
        </p:txBody>
      </p:sp>
      <p:sp>
        <p:nvSpPr>
          <p:cNvPr id="10" name="Rectangle 9"/>
          <p:cNvSpPr/>
          <p:nvPr/>
        </p:nvSpPr>
        <p:spPr>
          <a:xfrm>
            <a:off x="9326880" y="4434840"/>
            <a:ext cx="2468880" cy="1005840"/>
          </a:xfrm>
          <a:prstGeom prst="rect">
            <a:avLst/>
          </a:prstGeom>
          <a:solidFill>
            <a:srgbClr val="FFFFFF"/>
          </a:solidFill>
          <a:ln w="19050">
            <a:solidFill>
              <a:srgbClr val="1A3A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600" b="1">
                <a:solidFill>
                  <a:srgbClr val="1A3A5C"/>
                </a:solidFill>
              </a:rPr>
              <a:t>0.345%</a:t>
            </a:r>
          </a:p>
          <a:p>
            <a:pPr algn="ctr"/>
            <a:r>
              <a:rPr sz="1000">
                <a:solidFill>
                  <a:srgbClr val="6C6C6C"/>
                </a:solidFill>
              </a:rPr>
              <a:t>Ø MoM Spätphase</a:t>
            </a:r>
          </a:p>
        </p:txBody>
      </p:sp>
      <p:sp>
        <p:nvSpPr>
          <p:cNvPr id="11" name="Rectangle 10"/>
          <p:cNvSpPr/>
          <p:nvPr/>
        </p:nvSpPr>
        <p:spPr>
          <a:xfrm>
            <a:off x="9326880" y="5532120"/>
            <a:ext cx="2468880" cy="822960"/>
          </a:xfrm>
          <a:prstGeom prst="rect">
            <a:avLst/>
          </a:prstGeom>
          <a:solidFill>
            <a:srgbClr val="FFEEEE"/>
          </a:solidFill>
          <a:ln w="12700">
            <a:solidFill>
              <a:srgbClr val="E84E1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400" b="1">
                <a:solidFill>
                  <a:srgbClr val="1A3A5C"/>
                </a:solidFill>
              </a:rPr>
              <a:t>Ergebnis</a:t>
            </a:r>
          </a:p>
          <a:p>
            <a:pPr algn="l">
              <a:spcBef>
                <a:spcPts val="300"/>
              </a:spcBef>
            </a:pPr>
            <a:r>
              <a:rPr sz="1000">
                <a:solidFill>
                  <a:srgbClr val="2D2D2D"/>
                </a:solidFill>
              </a:rPr>
              <a:t>  • H₀ abgelehnt (p &lt; 0,001)</a:t>
            </a:r>
          </a:p>
          <a:p>
            <a:pPr algn="l">
              <a:spcBef>
                <a:spcPts val="300"/>
              </a:spcBef>
            </a:pPr>
            <a:r>
              <a:rPr sz="1000">
                <a:solidFill>
                  <a:srgbClr val="2D2D2D"/>
                </a:solidFill>
              </a:rPr>
              <a:t>  • Frühphase signifikant höher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l"/>
            <a:r>
              <a:rPr sz="2800" b="1">
                <a:solidFill>
                  <a:srgbClr val="FFFFFF"/>
                </a:solidFill>
              </a:rPr>
              <a:t>Inferenzstatistik – Korrelation Lebensmittelpreise &amp; CPI</a:t>
            </a:r>
          </a:p>
        </p:txBody>
      </p:sp>
      <p:sp>
        <p:nvSpPr>
          <p:cNvPr id="3" name="Rectangle 2"/>
          <p:cNvSpPr/>
          <p:nvPr/>
        </p:nvSpPr>
        <p:spPr>
          <a:xfrm>
            <a:off x="0" y="1005840"/>
            <a:ext cx="12188952" cy="36576"/>
          </a:xfrm>
          <a:prstGeom prst="rect">
            <a:avLst/>
          </a:prstGeom>
          <a:solidFill>
            <a:srgbClr val="E84E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492240"/>
            <a:ext cx="12188952" cy="365760"/>
          </a:xfrm>
          <a:prstGeom prst="rect">
            <a:avLst/>
          </a:prstGeom>
          <a:solidFill>
            <a:srgbClr val="0D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0">
                <a:solidFill>
                  <a:srgbClr val="80A0C0"/>
                </a:solidFill>
              </a:rPr>
              <a:t>Lebensmittelpreise &amp; Inflation in Deutschland · Stochastik-Projekt 2025</a:t>
            </a:r>
          </a:p>
        </p:txBody>
      </p:sp>
      <p:sp>
        <p:nvSpPr>
          <p:cNvPr id="5" name="Rectangle 4"/>
          <p:cNvSpPr/>
          <p:nvPr/>
        </p:nvSpPr>
        <p:spPr>
          <a:xfrm>
            <a:off x="365760" y="1143000"/>
            <a:ext cx="2743200" cy="1188720"/>
          </a:xfrm>
          <a:prstGeom prst="rect">
            <a:avLst/>
          </a:prstGeom>
          <a:solidFill>
            <a:srgbClr val="FFFFFF"/>
          </a:solidFill>
          <a:ln w="19050">
            <a:solidFill>
              <a:srgbClr val="1A3A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600" b="1">
                <a:solidFill>
                  <a:srgbClr val="1A3A5C"/>
                </a:solidFill>
              </a:rPr>
              <a:t>r = 0.080</a:t>
            </a:r>
          </a:p>
          <a:p>
            <a:pPr algn="ctr"/>
            <a:r>
              <a:rPr sz="1000">
                <a:solidFill>
                  <a:srgbClr val="6C6C6C"/>
                </a:solidFill>
              </a:rPr>
              <a:t>Pearson-Korrelation (gesamt)</a:t>
            </a:r>
          </a:p>
        </p:txBody>
      </p:sp>
      <p:sp>
        <p:nvSpPr>
          <p:cNvPr id="6" name="Rectangle 5"/>
          <p:cNvSpPr/>
          <p:nvPr/>
        </p:nvSpPr>
        <p:spPr>
          <a:xfrm>
            <a:off x="3291840" y="1143000"/>
            <a:ext cx="2743200" cy="1188720"/>
          </a:xfrm>
          <a:prstGeom prst="rect">
            <a:avLst/>
          </a:prstGeom>
          <a:solidFill>
            <a:srgbClr val="FFFFFF"/>
          </a:solidFill>
          <a:ln w="19050">
            <a:solidFill>
              <a:srgbClr val="1A3A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600" b="1">
                <a:solidFill>
                  <a:srgbClr val="F39C12"/>
                </a:solidFill>
              </a:rPr>
              <a:t>Schwach</a:t>
            </a:r>
          </a:p>
          <a:p>
            <a:pPr algn="ctr"/>
            <a:r>
              <a:rPr sz="1000">
                <a:solidFill>
                  <a:srgbClr val="6C6C6C"/>
                </a:solidFill>
              </a:rPr>
              <a:t>Korrelationsstärke</a:t>
            </a:r>
          </a:p>
        </p:txBody>
      </p:sp>
      <p:sp>
        <p:nvSpPr>
          <p:cNvPr id="7" name="Rectangle 6"/>
          <p:cNvSpPr/>
          <p:nvPr/>
        </p:nvSpPr>
        <p:spPr>
          <a:xfrm>
            <a:off x="6217920" y="1143000"/>
            <a:ext cx="2743200" cy="1188720"/>
          </a:xfrm>
          <a:prstGeom prst="rect">
            <a:avLst/>
          </a:prstGeom>
          <a:solidFill>
            <a:srgbClr val="FFFFFF"/>
          </a:solidFill>
          <a:ln w="19050">
            <a:solidFill>
              <a:srgbClr val="1A3A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600" b="1">
                <a:solidFill>
                  <a:srgbClr val="6C6C6C"/>
                </a:solidFill>
              </a:rPr>
              <a:t>Pearson</a:t>
            </a:r>
          </a:p>
          <a:p>
            <a:pPr algn="ctr"/>
            <a:r>
              <a:rPr sz="1000">
                <a:solidFill>
                  <a:srgbClr val="6C6C6C"/>
                </a:solidFill>
              </a:rPr>
              <a:t>Korrelationsmethode</a:t>
            </a:r>
          </a:p>
        </p:txBody>
      </p:sp>
      <p:sp>
        <p:nvSpPr>
          <p:cNvPr id="8" name="Rectangle 7"/>
          <p:cNvSpPr/>
          <p:nvPr/>
        </p:nvSpPr>
        <p:spPr>
          <a:xfrm>
            <a:off x="9144000" y="1143000"/>
            <a:ext cx="2743200" cy="1188720"/>
          </a:xfrm>
          <a:prstGeom prst="rect">
            <a:avLst/>
          </a:prstGeom>
          <a:solidFill>
            <a:srgbClr val="FFFFFF"/>
          </a:solidFill>
          <a:ln w="19050">
            <a:solidFill>
              <a:srgbClr val="1A3A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600" b="1">
                <a:solidFill>
                  <a:srgbClr val="1A3A5C"/>
                </a:solidFill>
              </a:rPr>
              <a:t>168 Produkte</a:t>
            </a:r>
          </a:p>
          <a:p>
            <a:pPr algn="ctr"/>
            <a:r>
              <a:rPr sz="1000">
                <a:solidFill>
                  <a:srgbClr val="6C6C6C"/>
                </a:solidFill>
              </a:rPr>
              <a:t>Analysebasis</a:t>
            </a:r>
          </a:p>
        </p:txBody>
      </p:sp>
      <p:pic>
        <p:nvPicPr>
          <p:cNvPr id="9" name="Picture 8" descr="image.png"/>
          <p:cNvPicPr>
            <a:picLocks noChangeAspect="1"/>
          </p:cNvPicPr>
          <p:nvPr/>
        </p:nvPicPr>
        <p:blipFill>
          <a:blip r:embed="rId3"/>
          <a:stretch>
            <a:fillRect/>
          </a:stretch>
        </p:blipFill>
        <p:spPr>
          <a:xfrm>
            <a:off x="365760" y="2423160"/>
            <a:ext cx="10241280" cy="3931920"/>
          </a:xfrm>
          <a:prstGeom prst="rect">
            <a:avLst/>
          </a:prstGeom>
        </p:spPr>
      </p:pic>
      <p:sp>
        <p:nvSpPr>
          <p:cNvPr id="10" name="Rectangle 9"/>
          <p:cNvSpPr/>
          <p:nvPr/>
        </p:nvSpPr>
        <p:spPr>
          <a:xfrm>
            <a:off x="10607040" y="2423160"/>
            <a:ext cx="1280160" cy="3931920"/>
          </a:xfrm>
          <a:prstGeom prst="rect">
            <a:avLst/>
          </a:prstGeom>
          <a:solidFill>
            <a:srgbClr val="F0F4F8"/>
          </a:solidFill>
          <a:ln w="12700">
            <a:solidFill>
              <a:srgbClr val="1A3A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400" b="1">
                <a:solidFill>
                  <a:srgbClr val="1A3A5C"/>
                </a:solidFill>
              </a:rPr>
              <a:t>Interpretation</a:t>
            </a:r>
          </a:p>
          <a:p>
            <a:pPr algn="l">
              <a:spcBef>
                <a:spcPts val="300"/>
              </a:spcBef>
            </a:pPr>
            <a:r>
              <a:rPr sz="900">
                <a:solidFill>
                  <a:srgbClr val="2D2D2D"/>
                </a:solidFill>
              </a:rPr>
              <a:t>  • Geringe Gesamt-Korrelation (r=0,08)</a:t>
            </a:r>
          </a:p>
          <a:p>
            <a:pPr algn="l">
              <a:spcBef>
                <a:spcPts val="300"/>
              </a:spcBef>
            </a:pPr>
            <a:r>
              <a:rPr sz="900">
                <a:solidFill>
                  <a:srgbClr val="2D2D2D"/>
                </a:solidFill>
              </a:rPr>
              <a:t>  • Stärkste r: Stangenspargel (0,44)</a:t>
            </a:r>
          </a:p>
          <a:p>
            <a:pPr algn="l">
              <a:spcBef>
                <a:spcPts val="300"/>
              </a:spcBef>
            </a:pPr>
            <a:r>
              <a:rPr sz="900">
                <a:solidFill>
                  <a:srgbClr val="2D2D2D"/>
                </a:solidFill>
              </a:rPr>
              <a:t>  • Brot &amp; Gemüse folgen CPI am ehesten</a:t>
            </a:r>
          </a:p>
          <a:p>
            <a:pPr algn="l">
              <a:spcBef>
                <a:spcPts val="300"/>
              </a:spcBef>
            </a:pPr>
            <a:r>
              <a:rPr sz="900">
                <a:solidFill>
                  <a:srgbClr val="2D2D2D"/>
                </a:solidFill>
              </a:rPr>
              <a:t>  • Drinks: kaum CPI-Abhängigkeit</a:t>
            </a:r>
          </a:p>
          <a:p>
            <a:pPr algn="l">
              <a:spcBef>
                <a:spcPts val="300"/>
              </a:spcBef>
            </a:pPr>
            <a:r>
              <a:rPr sz="900">
                <a:solidFill>
                  <a:srgbClr val="2D2D2D"/>
                </a:solidFill>
              </a:rPr>
              <a:t>  • Eigene Preislogik dominiert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l"/>
            <a:r>
              <a:rPr sz="2800" b="1">
                <a:solidFill>
                  <a:srgbClr val="FFFFFF"/>
                </a:solidFill>
              </a:rPr>
              <a:t>Post-hoc Analyse – Tukey-HSD Test</a:t>
            </a:r>
          </a:p>
        </p:txBody>
      </p:sp>
      <p:sp>
        <p:nvSpPr>
          <p:cNvPr id="3" name="Rectangle 2"/>
          <p:cNvSpPr/>
          <p:nvPr/>
        </p:nvSpPr>
        <p:spPr>
          <a:xfrm>
            <a:off x="0" y="1005840"/>
            <a:ext cx="12188952" cy="36576"/>
          </a:xfrm>
          <a:prstGeom prst="rect">
            <a:avLst/>
          </a:prstGeom>
          <a:solidFill>
            <a:srgbClr val="E84E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492240"/>
            <a:ext cx="12188952" cy="365760"/>
          </a:xfrm>
          <a:prstGeom prst="rect">
            <a:avLst/>
          </a:prstGeom>
          <a:solidFill>
            <a:srgbClr val="0D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0">
                <a:solidFill>
                  <a:srgbClr val="80A0C0"/>
                </a:solidFill>
              </a:rPr>
              <a:t>Lebensmittelpreise &amp; Inflation in Deutschland · Stochastik-Projekt 2025</a:t>
            </a:r>
          </a:p>
        </p:txBody>
      </p:sp>
      <p:pic>
        <p:nvPicPr>
          <p:cNvPr id="5" name="Picture 4" descr="tukey_top20_signifikant.png"/>
          <p:cNvPicPr>
            <a:picLocks noChangeAspect="1"/>
          </p:cNvPicPr>
          <p:nvPr/>
        </p:nvPicPr>
        <p:blipFill>
          <a:blip r:embed="rId3"/>
          <a:stretch>
            <a:fillRect/>
          </a:stretch>
        </p:blipFill>
        <p:spPr>
          <a:xfrm>
            <a:off x="365760" y="1143000"/>
            <a:ext cx="8046720" cy="5303520"/>
          </a:xfrm>
          <a:prstGeom prst="rect">
            <a:avLst/>
          </a:prstGeom>
        </p:spPr>
      </p:pic>
      <p:sp>
        <p:nvSpPr>
          <p:cNvPr id="6" name="Rectangle 5"/>
          <p:cNvSpPr/>
          <p:nvPr/>
        </p:nvSpPr>
        <p:spPr>
          <a:xfrm>
            <a:off x="8595360" y="1143000"/>
            <a:ext cx="3291840" cy="3200400"/>
          </a:xfrm>
          <a:prstGeom prst="rect">
            <a:avLst/>
          </a:prstGeom>
          <a:solidFill>
            <a:srgbClr val="F0F4F8"/>
          </a:solidFill>
          <a:ln w="12700">
            <a:solidFill>
              <a:srgbClr val="1A3A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400" b="1">
                <a:solidFill>
                  <a:srgbClr val="1A3A5C"/>
                </a:solidFill>
              </a:rPr>
              <a:t>Tukey HSD Überblick</a:t>
            </a:r>
          </a:p>
          <a:p>
            <a:pPr algn="l">
              <a:spcBef>
                <a:spcPts val="300"/>
              </a:spcBef>
            </a:pPr>
            <a:r>
              <a:rPr sz="1100">
                <a:solidFill>
                  <a:srgbClr val="2D2D2D"/>
                </a:solidFill>
              </a:rPr>
              <a:t>  • Post-hoc Test nach einfaktorieller ANOVA</a:t>
            </a:r>
          </a:p>
          <a:p>
            <a:pPr algn="l">
              <a:spcBef>
                <a:spcPts val="300"/>
              </a:spcBef>
            </a:pPr>
            <a:r>
              <a:rPr sz="1100">
                <a:solidFill>
                  <a:srgbClr val="2D2D2D"/>
                </a:solidFill>
              </a:rPr>
              <a:t>  • Paarweiser Vergleich aller Produktgruppen</a:t>
            </a:r>
          </a:p>
          <a:p>
            <a:pPr algn="l">
              <a:spcBef>
                <a:spcPts val="300"/>
              </a:spcBef>
            </a:pPr>
            <a:r>
              <a:rPr sz="1100">
                <a:solidFill>
                  <a:srgbClr val="2D2D2D"/>
                </a:solidFill>
              </a:rPr>
              <a:t>  • Korrektur für multiples Testen (familywise)</a:t>
            </a:r>
          </a:p>
          <a:p>
            <a:pPr algn="l">
              <a:spcBef>
                <a:spcPts val="300"/>
              </a:spcBef>
            </a:pPr>
            <a:r>
              <a:rPr sz="1100">
                <a:solidFill>
                  <a:srgbClr val="2D2D2D"/>
                </a:solidFill>
              </a:rPr>
              <a:t>  • Signifikanzschwelle: adj. p &lt; 0,05</a:t>
            </a:r>
          </a:p>
          <a:p>
            <a:pPr algn="l">
              <a:spcBef>
                <a:spcPts val="300"/>
              </a:spcBef>
            </a:pPr>
            <a:r>
              <a:rPr sz="1100">
                <a:solidFill>
                  <a:srgbClr val="2D2D2D"/>
                </a:solidFill>
              </a:rPr>
              <a:t>  • Gezeigt: Top-20 signifikante Paare</a:t>
            </a:r>
          </a:p>
          <a:p>
            <a:pPr algn="l">
              <a:spcBef>
                <a:spcPts val="300"/>
              </a:spcBef>
            </a:pPr>
            <a:r>
              <a:rPr sz="1100">
                <a:solidFill>
                  <a:srgbClr val="2D2D2D"/>
                </a:solidFill>
              </a:rPr>
              <a:t>  • Gurken vs. Standard-Produkte: signifikant</a:t>
            </a:r>
          </a:p>
          <a:p>
            <a:pPr algn="l">
              <a:spcBef>
                <a:spcPts val="300"/>
              </a:spcBef>
            </a:pPr>
            <a:r>
              <a:rPr sz="1100">
                <a:solidFill>
                  <a:srgbClr val="2D2D2D"/>
                </a:solidFill>
              </a:rPr>
              <a:t>  • Saisonale Produkte erklären Ausreißer</a:t>
            </a:r>
          </a:p>
        </p:txBody>
      </p:sp>
      <p:sp>
        <p:nvSpPr>
          <p:cNvPr id="7" name="Rectangle 6"/>
          <p:cNvSpPr/>
          <p:nvPr/>
        </p:nvSpPr>
        <p:spPr>
          <a:xfrm>
            <a:off x="8595360" y="4526280"/>
            <a:ext cx="3291840" cy="1920240"/>
          </a:xfrm>
          <a:prstGeom prst="rect">
            <a:avLst/>
          </a:prstGeom>
          <a:solidFill>
            <a:srgbClr val="FFF5EC"/>
          </a:solidFill>
          <a:ln w="12700">
            <a:solidFill>
              <a:srgbClr val="E84E1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400" b="1">
                <a:solidFill>
                  <a:srgbClr val="1A3A5C"/>
                </a:solidFill>
              </a:rPr>
              <a:t>Fazit</a:t>
            </a:r>
          </a:p>
          <a:p>
            <a:pPr algn="l">
              <a:spcBef>
                <a:spcPts val="300"/>
              </a:spcBef>
            </a:pPr>
            <a:r>
              <a:rPr sz="1100">
                <a:solidFill>
                  <a:srgbClr val="2D2D2D"/>
                </a:solidFill>
              </a:rPr>
              <a:t>  • Insgesamt wenige signifikante Paare</a:t>
            </a:r>
          </a:p>
          <a:p>
            <a:pPr algn="l">
              <a:spcBef>
                <a:spcPts val="300"/>
              </a:spcBef>
            </a:pPr>
            <a:r>
              <a:rPr sz="1100">
                <a:solidFill>
                  <a:srgbClr val="2D2D2D"/>
                </a:solidFill>
              </a:rPr>
              <a:t>  • Saisonale vs. ganzjährige Produkte divergieren</a:t>
            </a:r>
          </a:p>
          <a:p>
            <a:pPr algn="l">
              <a:spcBef>
                <a:spcPts val="300"/>
              </a:spcBef>
            </a:pPr>
            <a:r>
              <a:rPr sz="1100">
                <a:solidFill>
                  <a:srgbClr val="2D2D2D"/>
                </a:solidFill>
              </a:rPr>
              <a:t>  • ANOVA-Ergebnis bestätigt: Gruppen ähnlich</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l"/>
            <a:r>
              <a:rPr sz="2800" b="1">
                <a:solidFill>
                  <a:srgbClr val="FFFFFF"/>
                </a:solidFill>
              </a:rPr>
              <a:t>Zentrale Erkenntnisse &amp; Statistische Befunde</a:t>
            </a:r>
          </a:p>
        </p:txBody>
      </p:sp>
      <p:sp>
        <p:nvSpPr>
          <p:cNvPr id="3" name="Rectangle 2"/>
          <p:cNvSpPr/>
          <p:nvPr/>
        </p:nvSpPr>
        <p:spPr>
          <a:xfrm>
            <a:off x="0" y="1005840"/>
            <a:ext cx="12188952" cy="36576"/>
          </a:xfrm>
          <a:prstGeom prst="rect">
            <a:avLst/>
          </a:prstGeom>
          <a:solidFill>
            <a:srgbClr val="E84E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492240"/>
            <a:ext cx="12188952" cy="365760"/>
          </a:xfrm>
          <a:prstGeom prst="rect">
            <a:avLst/>
          </a:prstGeom>
          <a:solidFill>
            <a:srgbClr val="0D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0">
                <a:solidFill>
                  <a:srgbClr val="80A0C0"/>
                </a:solidFill>
              </a:rPr>
              <a:t>Lebensmittelpreise &amp; Inflation in Deutschland · Stochastik-Projekt 2025</a:t>
            </a:r>
          </a:p>
        </p:txBody>
      </p:sp>
      <p:sp>
        <p:nvSpPr>
          <p:cNvPr id="5" name="Rectangle 4"/>
          <p:cNvSpPr/>
          <p:nvPr/>
        </p:nvSpPr>
        <p:spPr>
          <a:xfrm>
            <a:off x="365760" y="1188720"/>
            <a:ext cx="3657600" cy="2194560"/>
          </a:xfrm>
          <a:prstGeom prst="rect">
            <a:avLst/>
          </a:prstGeom>
          <a:solidFill>
            <a:srgbClr val="FFFFFF"/>
          </a:solidFill>
          <a:ln w="25400">
            <a:solidFill>
              <a:srgbClr val="E84E1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E84E1B"/>
                </a:solidFill>
              </a:rPr>
              <a:t>+37,4 %</a:t>
            </a:r>
          </a:p>
          <a:p>
            <a:pPr algn="ctr"/>
            <a:r>
              <a:rPr sz="1100" b="1">
                <a:solidFill>
                  <a:srgbClr val="1A3A5C"/>
                </a:solidFill>
              </a:rPr>
              <a:t>Gesamtpreisanstieg</a:t>
            </a:r>
          </a:p>
          <a:p>
            <a:pPr algn="l">
              <a:spcBef>
                <a:spcPts val="400"/>
              </a:spcBef>
            </a:pPr>
            <a:r>
              <a:rPr sz="1000">
                <a:solidFill>
                  <a:srgbClr val="2D2D2D"/>
                </a:solidFill>
              </a:rPr>
              <a:t>Lebensmittelpreise stiegen zwischen Jan 2020 und Jun 2025 im Durchschnitt um 37,4 %.</a:t>
            </a:r>
          </a:p>
        </p:txBody>
      </p:sp>
      <p:sp>
        <p:nvSpPr>
          <p:cNvPr id="6" name="Rectangle 5"/>
          <p:cNvSpPr/>
          <p:nvPr/>
        </p:nvSpPr>
        <p:spPr>
          <a:xfrm>
            <a:off x="4297680" y="1188720"/>
            <a:ext cx="3657600" cy="2194560"/>
          </a:xfrm>
          <a:prstGeom prst="rect">
            <a:avLst/>
          </a:prstGeom>
          <a:solidFill>
            <a:srgbClr val="FFFFFF"/>
          </a:solidFill>
          <a:ln w="25400">
            <a:solidFill>
              <a:srgbClr val="1A3A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1A3A5C"/>
                </a:solidFill>
              </a:rPr>
              <a:t>Ø 0,68 %/Monat</a:t>
            </a:r>
          </a:p>
          <a:p>
            <a:pPr algn="ctr"/>
            <a:r>
              <a:rPr sz="1100" b="1">
                <a:solidFill>
                  <a:srgbClr val="1A3A5C"/>
                </a:solidFill>
              </a:rPr>
              <a:t>Frühphase dominiert</a:t>
            </a:r>
          </a:p>
          <a:p>
            <a:pPr algn="l">
              <a:spcBef>
                <a:spcPts val="400"/>
              </a:spcBef>
            </a:pPr>
            <a:r>
              <a:rPr sz="1000">
                <a:solidFill>
                  <a:srgbClr val="2D2D2D"/>
                </a:solidFill>
              </a:rPr>
              <a:t>Inflationsrate war in der Frühphase (2020–2022) signifikant höher als in der Spätphase (p &lt; 0,001).</a:t>
            </a:r>
          </a:p>
        </p:txBody>
      </p:sp>
      <p:sp>
        <p:nvSpPr>
          <p:cNvPr id="7" name="Rectangle 6"/>
          <p:cNvSpPr/>
          <p:nvPr/>
        </p:nvSpPr>
        <p:spPr>
          <a:xfrm>
            <a:off x="8229600" y="1188720"/>
            <a:ext cx="3657600" cy="2194560"/>
          </a:xfrm>
          <a:prstGeom prst="rect">
            <a:avLst/>
          </a:prstGeom>
          <a:solidFill>
            <a:srgbClr val="FFFFFF"/>
          </a:solidFill>
          <a:ln w="25400">
            <a:solidFill>
              <a:srgbClr val="E84E1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E84E1B"/>
                </a:solidFill>
              </a:rPr>
              <a:t>+60–67 %</a:t>
            </a:r>
          </a:p>
          <a:p>
            <a:pPr algn="ctr"/>
            <a:r>
              <a:rPr sz="1100" b="1">
                <a:solidFill>
                  <a:srgbClr val="1A3A5C"/>
                </a:solidFill>
              </a:rPr>
              <a:t>Getränke führen</a:t>
            </a:r>
          </a:p>
          <a:p>
            <a:pPr algn="l">
              <a:spcBef>
                <a:spcPts val="400"/>
              </a:spcBef>
            </a:pPr>
            <a:r>
              <a:rPr sz="1000">
                <a:solidFill>
                  <a:srgbClr val="2D2D2D"/>
                </a:solidFill>
              </a:rPr>
              <a:t>Säfte, Cola &amp; Mineralwasser verzeichnen die stärksten Preisanstiege aller Kategorien.</a:t>
            </a:r>
          </a:p>
        </p:txBody>
      </p:sp>
      <p:sp>
        <p:nvSpPr>
          <p:cNvPr id="8" name="Rectangle 7"/>
          <p:cNvSpPr/>
          <p:nvPr/>
        </p:nvSpPr>
        <p:spPr>
          <a:xfrm>
            <a:off x="365760" y="3657600"/>
            <a:ext cx="3657600" cy="2194560"/>
          </a:xfrm>
          <a:prstGeom prst="rect">
            <a:avLst/>
          </a:prstGeom>
          <a:solidFill>
            <a:srgbClr val="FFFFFF"/>
          </a:solidFill>
          <a:ln w="25400">
            <a:solidFill>
              <a:srgbClr val="F39C1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F39C12"/>
                </a:solidFill>
              </a:rPr>
              <a:t>r = 0,08</a:t>
            </a:r>
          </a:p>
          <a:p>
            <a:pPr algn="ctr"/>
            <a:r>
              <a:rPr sz="1100" b="1">
                <a:solidFill>
                  <a:srgbClr val="1A3A5C"/>
                </a:solidFill>
              </a:rPr>
              <a:t>CPI-Entkopplung</a:t>
            </a:r>
          </a:p>
          <a:p>
            <a:pPr algn="l">
              <a:spcBef>
                <a:spcPts val="400"/>
              </a:spcBef>
            </a:pPr>
            <a:r>
              <a:rPr sz="1000">
                <a:solidFill>
                  <a:srgbClr val="2D2D2D"/>
                </a:solidFill>
              </a:rPr>
              <a:t>Lebensmittelpreise korrelieren kaum mit dem allgemeinen Verbraucherpreisindex.</a:t>
            </a:r>
          </a:p>
        </p:txBody>
      </p:sp>
      <p:sp>
        <p:nvSpPr>
          <p:cNvPr id="9" name="Rectangle 8"/>
          <p:cNvSpPr/>
          <p:nvPr/>
        </p:nvSpPr>
        <p:spPr>
          <a:xfrm>
            <a:off x="4297680" y="3657600"/>
            <a:ext cx="3657600" cy="2194560"/>
          </a:xfrm>
          <a:prstGeom prst="rect">
            <a:avLst/>
          </a:prstGeom>
          <a:solidFill>
            <a:srgbClr val="FFFFFF"/>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27AE60"/>
                </a:solidFill>
              </a:rPr>
              <a:t>p ≈ 1,00</a:t>
            </a:r>
          </a:p>
          <a:p>
            <a:pPr algn="ctr"/>
            <a:r>
              <a:rPr sz="1100" b="1">
                <a:solidFill>
                  <a:srgbClr val="1A3A5C"/>
                </a:solidFill>
              </a:rPr>
              <a:t>Keine Gruppenunterschiede</a:t>
            </a:r>
          </a:p>
          <a:p>
            <a:pPr algn="l">
              <a:spcBef>
                <a:spcPts val="400"/>
              </a:spcBef>
            </a:pPr>
            <a:r>
              <a:rPr sz="1000">
                <a:solidFill>
                  <a:srgbClr val="2D2D2D"/>
                </a:solidFill>
              </a:rPr>
              <a:t>ANOVA zeigt: Alle Produktgruppen steigen statistisch gleichmäßig – Inflation ist gesamtheitlich.</a:t>
            </a:r>
          </a:p>
        </p:txBody>
      </p:sp>
      <p:sp>
        <p:nvSpPr>
          <p:cNvPr id="10" name="Rectangle 9"/>
          <p:cNvSpPr/>
          <p:nvPr/>
        </p:nvSpPr>
        <p:spPr>
          <a:xfrm>
            <a:off x="8229600" y="3657600"/>
            <a:ext cx="3657600" cy="2194560"/>
          </a:xfrm>
          <a:prstGeom prst="rect">
            <a:avLst/>
          </a:prstGeom>
          <a:solidFill>
            <a:srgbClr val="FFFFFF"/>
          </a:solidFill>
          <a:ln w="25400">
            <a:solidFill>
              <a:srgbClr val="6C6C6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6C6C6C"/>
                </a:solidFill>
              </a:rPr>
              <a:t>Std ~2,5 %/Mo.</a:t>
            </a:r>
          </a:p>
          <a:p>
            <a:pPr algn="ctr"/>
            <a:r>
              <a:rPr sz="1100" b="1">
                <a:solidFill>
                  <a:srgbClr val="1A3A5C"/>
                </a:solidFill>
              </a:rPr>
              <a:t>Hohe Volatilität</a:t>
            </a:r>
          </a:p>
          <a:p>
            <a:pPr algn="l">
              <a:spcBef>
                <a:spcPts val="400"/>
              </a:spcBef>
            </a:pPr>
            <a:r>
              <a:rPr sz="1000">
                <a:solidFill>
                  <a:srgbClr val="2D2D2D"/>
                </a:solidFill>
              </a:rPr>
              <a:t>Monatliche Schwankungen zeigen hohe Streuung – punktuelle Schocks statt gleichmäßiger Preissteigerung.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l"/>
            <a:r>
              <a:rPr sz="2800" b="1">
                <a:solidFill>
                  <a:srgbClr val="FFFFFF"/>
                </a:solidFill>
              </a:rPr>
              <a:t>Reflexion &amp; Ausblick</a:t>
            </a:r>
          </a:p>
        </p:txBody>
      </p:sp>
      <p:sp>
        <p:nvSpPr>
          <p:cNvPr id="3" name="Rectangle 2"/>
          <p:cNvSpPr/>
          <p:nvPr/>
        </p:nvSpPr>
        <p:spPr>
          <a:xfrm>
            <a:off x="0" y="1005840"/>
            <a:ext cx="12188952" cy="36576"/>
          </a:xfrm>
          <a:prstGeom prst="rect">
            <a:avLst/>
          </a:prstGeom>
          <a:solidFill>
            <a:srgbClr val="E84E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492240"/>
            <a:ext cx="12188952" cy="365760"/>
          </a:xfrm>
          <a:prstGeom prst="rect">
            <a:avLst/>
          </a:prstGeom>
          <a:solidFill>
            <a:srgbClr val="0D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0">
                <a:solidFill>
                  <a:srgbClr val="80A0C0"/>
                </a:solidFill>
              </a:rPr>
              <a:t>Lebensmittelpreise &amp; Inflation in Deutschland · Stochastik-Projekt 2025</a:t>
            </a:r>
          </a:p>
        </p:txBody>
      </p:sp>
      <p:sp>
        <p:nvSpPr>
          <p:cNvPr id="5" name="Rectangle 4"/>
          <p:cNvSpPr/>
          <p:nvPr/>
        </p:nvSpPr>
        <p:spPr>
          <a:xfrm>
            <a:off x="365760" y="1188720"/>
            <a:ext cx="5394960" cy="2468880"/>
          </a:xfrm>
          <a:prstGeom prst="rect">
            <a:avLst/>
          </a:prstGeom>
          <a:solidFill>
            <a:srgbClr val="F0F4F8"/>
          </a:solidFill>
          <a:ln w="12700">
            <a:solidFill>
              <a:srgbClr val="1A3A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400" b="1">
                <a:solidFill>
                  <a:srgbClr val="1A3A5C"/>
                </a:solidFill>
              </a:rPr>
              <a:t>Herausforderungen</a:t>
            </a:r>
          </a:p>
          <a:p>
            <a:pPr algn="l">
              <a:spcBef>
                <a:spcPts val="300"/>
              </a:spcBef>
            </a:pPr>
            <a:r>
              <a:rPr sz="1200">
                <a:solidFill>
                  <a:srgbClr val="2D2D2D"/>
                </a:solidFill>
              </a:rPr>
              <a:t>  • Fehlende Werte für 35 Produkte ab Jan 2025</a:t>
            </a:r>
          </a:p>
          <a:p>
            <a:pPr algn="l">
              <a:spcBef>
                <a:spcPts val="300"/>
              </a:spcBef>
            </a:pPr>
            <a:r>
              <a:rPr sz="1200">
                <a:solidFill>
                  <a:srgbClr val="2D2D2D"/>
                </a:solidFill>
              </a:rPr>
              <a:t>  • Preisindex-Basis (2020=100): keine absoluten Preise</a:t>
            </a:r>
          </a:p>
          <a:p>
            <a:pPr algn="l">
              <a:spcBef>
                <a:spcPts val="300"/>
              </a:spcBef>
            </a:pPr>
            <a:r>
              <a:rPr sz="1200">
                <a:solidFill>
                  <a:srgbClr val="2D2D2D"/>
                </a:solidFill>
              </a:rPr>
              <a:t>  • ANOVA-Annahme der Normalverteilung nur bedingt erfüllt</a:t>
            </a:r>
          </a:p>
          <a:p>
            <a:pPr algn="l">
              <a:spcBef>
                <a:spcPts val="300"/>
              </a:spcBef>
            </a:pPr>
            <a:r>
              <a:rPr sz="1200">
                <a:solidFill>
                  <a:srgbClr val="2D2D2D"/>
                </a:solidFill>
              </a:rPr>
              <a:t>  • CPI-Daten auf anderer Aggregationsebene als Destatis</a:t>
            </a:r>
          </a:p>
          <a:p>
            <a:pPr algn="l">
              <a:spcBef>
                <a:spcPts val="300"/>
              </a:spcBef>
            </a:pPr>
            <a:r>
              <a:rPr sz="1200">
                <a:solidFill>
                  <a:srgbClr val="2D2D2D"/>
                </a:solidFill>
              </a:rPr>
              <a:t>  • Unterschiedliche Zeiträume je Produktgruppe</a:t>
            </a:r>
          </a:p>
        </p:txBody>
      </p:sp>
      <p:sp>
        <p:nvSpPr>
          <p:cNvPr id="6" name="Rectangle 5"/>
          <p:cNvSpPr/>
          <p:nvPr/>
        </p:nvSpPr>
        <p:spPr>
          <a:xfrm>
            <a:off x="5943600" y="1188720"/>
            <a:ext cx="5943600" cy="2468880"/>
          </a:xfrm>
          <a:prstGeom prst="rect">
            <a:avLst/>
          </a:prstGeom>
          <a:solidFill>
            <a:srgbClr val="ECF5FF"/>
          </a:solidFill>
          <a:ln w="12700">
            <a:solidFill>
              <a:srgbClr val="1A3A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400" b="1">
                <a:solidFill>
                  <a:srgbClr val="1A3A5C"/>
                </a:solidFill>
              </a:rPr>
              <a:t>Mögliche Verbesserungen</a:t>
            </a:r>
          </a:p>
          <a:p>
            <a:pPr algn="l">
              <a:spcBef>
                <a:spcPts val="300"/>
              </a:spcBef>
            </a:pPr>
            <a:r>
              <a:rPr sz="1200">
                <a:solidFill>
                  <a:srgbClr val="2D2D2D"/>
                </a:solidFill>
              </a:rPr>
              <a:t>  • Absolute Preisdaten (€/kg) statt nur Preisindizes verwenden</a:t>
            </a:r>
          </a:p>
          <a:p>
            <a:pPr algn="l">
              <a:spcBef>
                <a:spcPts val="300"/>
              </a:spcBef>
            </a:pPr>
            <a:r>
              <a:rPr sz="1200">
                <a:solidFill>
                  <a:srgbClr val="2D2D2D"/>
                </a:solidFill>
              </a:rPr>
              <a:t>  • Nichtparametrische Tests (Kruskal-Wallis) als Robustheitsprüfung</a:t>
            </a:r>
          </a:p>
          <a:p>
            <a:pPr algn="l">
              <a:spcBef>
                <a:spcPts val="300"/>
              </a:spcBef>
            </a:pPr>
            <a:r>
              <a:rPr sz="1200">
                <a:solidFill>
                  <a:srgbClr val="2D2D2D"/>
                </a:solidFill>
              </a:rPr>
              <a:t>  • Produktkategorisierung nach Warenkorb-Gewichtung</a:t>
            </a:r>
          </a:p>
          <a:p>
            <a:pPr algn="l">
              <a:spcBef>
                <a:spcPts val="300"/>
              </a:spcBef>
            </a:pPr>
            <a:r>
              <a:rPr sz="1200">
                <a:solidFill>
                  <a:srgbClr val="2D2D2D"/>
                </a:solidFill>
              </a:rPr>
              <a:t>  • Regionale Preisdifferenzen einbeziehen (Länderebene)</a:t>
            </a:r>
          </a:p>
          <a:p>
            <a:pPr algn="l">
              <a:spcBef>
                <a:spcPts val="300"/>
              </a:spcBef>
            </a:pPr>
            <a:r>
              <a:rPr sz="1200">
                <a:solidFill>
                  <a:srgbClr val="2D2D2D"/>
                </a:solidFill>
              </a:rPr>
              <a:t>  • Erweiterte Kausalitätsanalyse (Granger-Test)</a:t>
            </a:r>
          </a:p>
        </p:txBody>
      </p:sp>
      <p:sp>
        <p:nvSpPr>
          <p:cNvPr id="7" name="Rectangle 6"/>
          <p:cNvSpPr/>
          <p:nvPr/>
        </p:nvSpPr>
        <p:spPr>
          <a:xfrm>
            <a:off x="365760" y="3840480"/>
            <a:ext cx="5394960" cy="2377440"/>
          </a:xfrm>
          <a:prstGeom prst="rect">
            <a:avLst/>
          </a:prstGeom>
          <a:solidFill>
            <a:srgbClr val="F0F4F8"/>
          </a:solidFill>
          <a:ln w="12700">
            <a:solidFill>
              <a:srgbClr val="1A3A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400" b="1">
                <a:solidFill>
                  <a:srgbClr val="1A3A5C"/>
                </a:solidFill>
              </a:rPr>
              <a:t>Ausblick &amp; Weiterentwicklung</a:t>
            </a:r>
          </a:p>
          <a:p>
            <a:pPr algn="l">
              <a:spcBef>
                <a:spcPts val="300"/>
              </a:spcBef>
            </a:pPr>
            <a:r>
              <a:rPr sz="1200">
                <a:solidFill>
                  <a:srgbClr val="2D2D2D"/>
                </a:solidFill>
              </a:rPr>
              <a:t>  • Vorhersagemodell (ARIMA/Regression) für Preisprognose</a:t>
            </a:r>
          </a:p>
          <a:p>
            <a:pPr algn="l">
              <a:spcBef>
                <a:spcPts val="300"/>
              </a:spcBef>
            </a:pPr>
            <a:r>
              <a:rPr sz="1200">
                <a:solidFill>
                  <a:srgbClr val="2D2D2D"/>
                </a:solidFill>
              </a:rPr>
              <a:t>  • Integration von Erzeugerpreisen als Frühindikator</a:t>
            </a:r>
          </a:p>
          <a:p>
            <a:pPr algn="l">
              <a:spcBef>
                <a:spcPts val="300"/>
              </a:spcBef>
            </a:pPr>
            <a:r>
              <a:rPr sz="1200">
                <a:solidFill>
                  <a:srgbClr val="2D2D2D"/>
                </a:solidFill>
              </a:rPr>
              <a:t>  • Vergleich mit EU-Nachbarländern (Eurostat)</a:t>
            </a:r>
          </a:p>
          <a:p>
            <a:pPr algn="l">
              <a:spcBef>
                <a:spcPts val="300"/>
              </a:spcBef>
            </a:pPr>
            <a:r>
              <a:rPr sz="1200">
                <a:solidFill>
                  <a:srgbClr val="2D2D2D"/>
                </a:solidFill>
              </a:rPr>
              <a:t>  • Konsumentengruppen-Analyse (Risikogruppen)</a:t>
            </a:r>
          </a:p>
        </p:txBody>
      </p:sp>
      <p:sp>
        <p:nvSpPr>
          <p:cNvPr id="8" name="Rectangle 7"/>
          <p:cNvSpPr/>
          <p:nvPr/>
        </p:nvSpPr>
        <p:spPr>
          <a:xfrm>
            <a:off x="5943600" y="3840480"/>
            <a:ext cx="5943600" cy="2377440"/>
          </a:xfrm>
          <a:prstGeom prst="rect">
            <a:avLst/>
          </a:prstGeom>
          <a:solidFill>
            <a:srgbClr val="FFF5EC"/>
          </a:solidFill>
          <a:ln w="12700">
            <a:solidFill>
              <a:srgbClr val="E84E1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400" b="1">
                <a:solidFill>
                  <a:srgbClr val="1A3A5C"/>
                </a:solidFill>
              </a:rPr>
              <a:t>Erkenntnisse für das Dashboard</a:t>
            </a:r>
          </a:p>
          <a:p>
            <a:pPr algn="l">
              <a:spcBef>
                <a:spcPts val="300"/>
              </a:spcBef>
            </a:pPr>
            <a:r>
              <a:rPr sz="1200">
                <a:solidFill>
                  <a:srgbClr val="2D2D2D"/>
                </a:solidFill>
              </a:rPr>
              <a:t>  • Statistischen Kontext im Dashboard visualisieren</a:t>
            </a:r>
          </a:p>
          <a:p>
            <a:pPr algn="l">
              <a:spcBef>
                <a:spcPts val="300"/>
              </a:spcBef>
            </a:pPr>
            <a:r>
              <a:rPr sz="1200">
                <a:solidFill>
                  <a:srgbClr val="2D2D2D"/>
                </a:solidFill>
              </a:rPr>
              <a:t>  • Interaktiver Phasenvergleich (Früh-/Spätphase)</a:t>
            </a:r>
          </a:p>
          <a:p>
            <a:pPr algn="l">
              <a:spcBef>
                <a:spcPts val="300"/>
              </a:spcBef>
            </a:pPr>
            <a:r>
              <a:rPr sz="1200">
                <a:solidFill>
                  <a:srgbClr val="2D2D2D"/>
                </a:solidFill>
              </a:rPr>
              <a:t>  • ANOVA-/t-Test-Ergebnisse direkt anzeigbar</a:t>
            </a:r>
          </a:p>
          <a:p>
            <a:pPr algn="l">
              <a:spcBef>
                <a:spcPts val="300"/>
              </a:spcBef>
            </a:pPr>
            <a:r>
              <a:rPr sz="1200">
                <a:solidFill>
                  <a:srgbClr val="2D2D2D"/>
                </a:solidFill>
              </a:rPr>
              <a:t>  • Korrelations-Heatmap als Dashboard-Element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3106</Words>
  <Application>Microsoft Macintosh PowerPoint</Application>
  <PresentationFormat>Benutzerdefiniert</PresentationFormat>
  <Paragraphs>219</Paragraphs>
  <Slides>13</Slides>
  <Notes>13</Notes>
  <HiddenSlides>0</HiddenSlides>
  <MMClips>0</MMClips>
  <ScaleCrop>false</ScaleCrop>
  <HeadingPairs>
    <vt:vector size="6" baseType="variant">
      <vt:variant>
        <vt:lpstr>Verwendete Schriftarten</vt:lpstr>
      </vt:variant>
      <vt:variant>
        <vt:i4>2</vt:i4>
      </vt:variant>
      <vt:variant>
        <vt:lpstr>Design</vt:lpstr>
      </vt:variant>
      <vt:variant>
        <vt:i4>1</vt:i4>
      </vt:variant>
      <vt:variant>
        <vt:lpstr>Folientitel</vt:lpstr>
      </vt:variant>
      <vt:variant>
        <vt:i4>13</vt:i4>
      </vt:variant>
    </vt:vector>
  </HeadingPairs>
  <TitlesOfParts>
    <vt:vector size="16" baseType="lpstr">
      <vt:lpstr>Arial</vt:lpstr>
      <vt:lpstr>Calibri</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Radtke, Dominique</cp:lastModifiedBy>
  <cp:revision>1</cp:revision>
  <dcterms:created xsi:type="dcterms:W3CDTF">2013-01-27T09:14:16Z</dcterms:created>
  <dcterms:modified xsi:type="dcterms:W3CDTF">2026-06-04T20:15:22Z</dcterms:modified>
  <cp:category/>
</cp:coreProperties>
</file>